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14" r:id="rId2"/>
    <p:sldId id="415" r:id="rId3"/>
    <p:sldId id="416" r:id="rId4"/>
    <p:sldId id="417" r:id="rId5"/>
    <p:sldId id="418" r:id="rId6"/>
    <p:sldId id="419" r:id="rId7"/>
    <p:sldId id="420" r:id="rId8"/>
    <p:sldId id="421" r:id="rId9"/>
    <p:sldId id="422" r:id="rId10"/>
    <p:sldId id="423" r:id="rId11"/>
    <p:sldId id="424" r:id="rId12"/>
    <p:sldId id="425" r:id="rId13"/>
    <p:sldId id="426" r:id="rId14"/>
    <p:sldId id="427" r:id="rId15"/>
    <p:sldId id="428" r:id="rId16"/>
    <p:sldId id="429" r:id="rId17"/>
    <p:sldId id="430" r:id="rId18"/>
    <p:sldId id="431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-ARBI EL-ALAOUY" initials="EE" lastIdx="2" clrIdx="0">
    <p:extLst>
      <p:ext uri="{19B8F6BF-5375-455C-9EA6-DF929625EA0E}">
        <p15:presenceInfo xmlns:p15="http://schemas.microsoft.com/office/powerpoint/2012/main" userId="S::ELARBI.ELALAOUY@ofppt.ma::328fd111-a4b5-4d61-919a-b1b69a7c4c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30" autoAdjust="0"/>
    <p:restoredTop sz="94660"/>
  </p:normalViewPr>
  <p:slideViewPr>
    <p:cSldViewPr>
      <p:cViewPr varScale="1">
        <p:scale>
          <a:sx n="60" d="100"/>
          <a:sy n="60" d="100"/>
        </p:scale>
        <p:origin x="58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ARBI EL-ALAOUY" userId="c0f863f6-db95-49c6-911c-8ced39e04c5e" providerId="ADAL" clId="{D0CBE678-B6EE-452A-9FD2-D54FBCA1BD73}"/>
    <pc:docChg chg="delSld sldOrd">
      <pc:chgData name="ELARBI EL-ALAOUY" userId="c0f863f6-db95-49c6-911c-8ced39e04c5e" providerId="ADAL" clId="{D0CBE678-B6EE-452A-9FD2-D54FBCA1BD73}" dt="2024-10-05T00:29:32.840" v="2"/>
      <pc:docMkLst>
        <pc:docMk/>
      </pc:docMkLst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361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362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01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02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03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04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05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06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07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08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09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10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11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12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0" sldId="413"/>
        </pc:sldMkLst>
      </pc:sldChg>
      <pc:sldChg chg="ord">
        <pc:chgData name="ELARBI EL-ALAOUY" userId="c0f863f6-db95-49c6-911c-8ced39e04c5e" providerId="ADAL" clId="{D0CBE678-B6EE-452A-9FD2-D54FBCA1BD73}" dt="2024-10-05T00:29:32.840" v="2"/>
        <pc:sldMkLst>
          <pc:docMk/>
          <pc:sldMk cId="0" sldId="424"/>
        </pc:sldMkLst>
      </pc:sldChg>
      <pc:sldChg chg="del">
        <pc:chgData name="ELARBI EL-ALAOUY" userId="c0f863f6-db95-49c6-911c-8ced39e04c5e" providerId="ADAL" clId="{D0CBE678-B6EE-452A-9FD2-D54FBCA1BD73}" dt="2024-10-04T23:24:50.759" v="0" actId="47"/>
        <pc:sldMkLst>
          <pc:docMk/>
          <pc:sldMk cId="1502092728" sldId="433"/>
        </pc:sldMkLst>
      </pc:sldChg>
    </pc:docChg>
  </pc:docChgLst>
  <pc:docChgLst>
    <pc:chgData name="EL-ARBI EL-ALAOUY" userId="328fd111-a4b5-4d61-919a-b1b69a7c4cc8" providerId="ADAL" clId="{28B249C7-BD6E-43CE-AFB5-5B458D3A4E24}"/>
    <pc:docChg chg="addSld delSld modSld sldOrd">
      <pc:chgData name="EL-ARBI EL-ALAOUY" userId="328fd111-a4b5-4d61-919a-b1b69a7c4cc8" providerId="ADAL" clId="{28B249C7-BD6E-43CE-AFB5-5B458D3A4E24}" dt="2024-09-30T23:38:39.282" v="21"/>
      <pc:docMkLst>
        <pc:docMk/>
      </pc:docMkLst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5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5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5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5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60"/>
        </pc:sldMkLst>
      </pc:sldChg>
      <pc:sldChg chg="modCm">
        <pc:chgData name="EL-ARBI EL-ALAOUY" userId="328fd111-a4b5-4d61-919a-b1b69a7c4cc8" providerId="ADAL" clId="{28B249C7-BD6E-43CE-AFB5-5B458D3A4E24}" dt="2024-09-30T23:33:54.048" v="9"/>
        <pc:sldMkLst>
          <pc:docMk/>
          <pc:sldMk cId="0" sldId="413"/>
        </pc:sldMkLst>
      </pc:sldChg>
      <pc:sldChg chg="modCm">
        <pc:chgData name="EL-ARBI EL-ALAOUY" userId="328fd111-a4b5-4d61-919a-b1b69a7c4cc8" providerId="ADAL" clId="{28B249C7-BD6E-43CE-AFB5-5B458D3A4E24}" dt="2024-09-30T23:38:39.282" v="21"/>
        <pc:sldMkLst>
          <pc:docMk/>
          <pc:sldMk cId="0" sldId="418"/>
        </pc:sldMkLst>
      </pc:sldChg>
      <pc:sldChg chg="del ord">
        <pc:chgData name="EL-ARBI EL-ALAOUY" userId="328fd111-a4b5-4d61-919a-b1b69a7c4cc8" providerId="ADAL" clId="{28B249C7-BD6E-43CE-AFB5-5B458D3A4E24}" dt="2024-09-30T23:13:47.023" v="6" actId="47"/>
        <pc:sldMkLst>
          <pc:docMk/>
          <pc:sldMk cId="0" sldId="432"/>
        </pc:sldMkLst>
      </pc:sldChg>
      <pc:sldChg chg="new">
        <pc:chgData name="EL-ARBI EL-ALAOUY" userId="328fd111-a4b5-4d61-919a-b1b69a7c4cc8" providerId="ADAL" clId="{28B249C7-BD6E-43CE-AFB5-5B458D3A4E24}" dt="2024-09-30T23:25:16.291" v="8" actId="680"/>
        <pc:sldMkLst>
          <pc:docMk/>
          <pc:sldMk cId="857494664" sldId="43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3"/>
        </pc:sldMkLst>
      </pc:sldChg>
      <pc:sldChg chg="modSp new mod">
        <pc:chgData name="EL-ARBI EL-ALAOUY" userId="328fd111-a4b5-4d61-919a-b1b69a7c4cc8" providerId="ADAL" clId="{28B249C7-BD6E-43CE-AFB5-5B458D3A4E24}" dt="2024-09-30T23:34:29.338" v="19" actId="20577"/>
        <pc:sldMkLst>
          <pc:docMk/>
          <pc:sldMk cId="1502092728" sldId="433"/>
        </pc:sldMkLst>
        <pc:spChg chg="mod">
          <ac:chgData name="EL-ARBI EL-ALAOUY" userId="328fd111-a4b5-4d61-919a-b1b69a7c4cc8" providerId="ADAL" clId="{28B249C7-BD6E-43CE-AFB5-5B458D3A4E24}" dt="2024-09-30T23:34:29.338" v="19" actId="20577"/>
          <ac:spMkLst>
            <pc:docMk/>
            <pc:sldMk cId="1502092728" sldId="433"/>
            <ac:spMk id="3" creationId="{7009A4C7-B0DC-BE3E-B6EA-0EAE28E4D901}"/>
          </ac:spMkLst>
        </pc:spChg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50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50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50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50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9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9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9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93"/>
        </pc:sldMkLst>
      </pc:sldChg>
      <pc:sldChg chg="del">
        <pc:chgData name="EL-ARBI EL-ALAOUY" userId="328fd111-a4b5-4d61-919a-b1b69a7c4cc8" providerId="ADAL" clId="{28B249C7-BD6E-43CE-AFB5-5B458D3A4E24}" dt="2024-09-30T23:13:16.972" v="4" actId="47"/>
        <pc:sldMkLst>
          <pc:docMk/>
          <pc:sldMk cId="0" sldId="594"/>
        </pc:sldMkLst>
      </pc:sldChg>
      <pc:sldChg chg="del">
        <pc:chgData name="EL-ARBI EL-ALAOUY" userId="328fd111-a4b5-4d61-919a-b1b69a7c4cc8" providerId="ADAL" clId="{28B249C7-BD6E-43CE-AFB5-5B458D3A4E24}" dt="2024-09-30T23:13:17.634" v="5" actId="47"/>
        <pc:sldMkLst>
          <pc:docMk/>
          <pc:sldMk cId="0" sldId="595"/>
        </pc:sldMkLst>
      </pc:sldChg>
    </pc:docChg>
  </pc:docChgLst>
  <pc:docChgLst>
    <pc:chgData name="EL-ARBI EL-ALAOUY" userId="S::elarbi.elalaouy@ofppt.ma::328fd111-a4b5-4d61-919a-b1b69a7c4cc8" providerId="AD" clId="Web-{B2DCA4F6-42A6-340C-6945-CF3AA81572D9}"/>
    <pc:docChg chg="delSld">
      <pc:chgData name="EL-ARBI EL-ALAOUY" userId="S::elarbi.elalaouy@ofppt.ma::328fd111-a4b5-4d61-919a-b1b69a7c4cc8" providerId="AD" clId="Web-{B2DCA4F6-42A6-340C-6945-CF3AA81572D9}" dt="2024-10-01T14:50:51.402" v="0"/>
      <pc:docMkLst>
        <pc:docMk/>
      </pc:docMkLst>
      <pc:sldChg chg="del">
        <pc:chgData name="EL-ARBI EL-ALAOUY" userId="S::elarbi.elalaouy@ofppt.ma::328fd111-a4b5-4d61-919a-b1b69a7c4cc8" providerId="AD" clId="Web-{B2DCA4F6-42A6-340C-6945-CF3AA81572D9}" dt="2024-10-01T14:50:51.402" v="0"/>
        <pc:sldMkLst>
          <pc:docMk/>
          <pc:sldMk cId="857494664" sldId="432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01T00:37:44.938" idx="2">
    <p:pos x="10" y="10"/>
    <p:text>il a traité seulement les vecteurs; il reste listes, matrices, dataframes, etc</p:text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58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7" y="17"/>
            <a:ext cx="12187046" cy="685520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36790" y="1465478"/>
            <a:ext cx="11118850" cy="5146675"/>
          </a:xfrm>
          <a:custGeom>
            <a:avLst/>
            <a:gdLst/>
            <a:ahLst/>
            <a:cxnLst/>
            <a:rect l="l" t="t" r="r" b="b"/>
            <a:pathLst>
              <a:path w="11118850" h="5146675">
                <a:moveTo>
                  <a:pt x="11118469" y="0"/>
                </a:moveTo>
                <a:lnTo>
                  <a:pt x="0" y="0"/>
                </a:lnTo>
                <a:lnTo>
                  <a:pt x="0" y="5146294"/>
                </a:lnTo>
                <a:lnTo>
                  <a:pt x="11118469" y="5146294"/>
                </a:lnTo>
                <a:lnTo>
                  <a:pt x="11118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6790" y="1465478"/>
            <a:ext cx="11118850" cy="5146675"/>
          </a:xfrm>
          <a:custGeom>
            <a:avLst/>
            <a:gdLst/>
            <a:ahLst/>
            <a:cxnLst/>
            <a:rect l="l" t="t" r="r" b="b"/>
            <a:pathLst>
              <a:path w="11118850" h="5146675">
                <a:moveTo>
                  <a:pt x="0" y="5146294"/>
                </a:moveTo>
                <a:lnTo>
                  <a:pt x="11118469" y="5146294"/>
                </a:lnTo>
                <a:lnTo>
                  <a:pt x="11118469" y="0"/>
                </a:lnTo>
                <a:lnTo>
                  <a:pt x="0" y="0"/>
                </a:lnTo>
                <a:lnTo>
                  <a:pt x="0" y="5146294"/>
                </a:lnTo>
                <a:close/>
              </a:path>
            </a:pathLst>
          </a:custGeom>
          <a:ln w="9525">
            <a:solidFill>
              <a:srgbClr val="FF7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060150"/>
            <a:ext cx="537210" cy="1346200"/>
          </a:xfrm>
          <a:custGeom>
            <a:avLst/>
            <a:gdLst/>
            <a:ahLst/>
            <a:cxnLst/>
            <a:rect l="l" t="t" r="r" b="b"/>
            <a:pathLst>
              <a:path w="537210" h="1346200">
                <a:moveTo>
                  <a:pt x="536790" y="0"/>
                </a:moveTo>
                <a:lnTo>
                  <a:pt x="0" y="0"/>
                </a:lnTo>
                <a:lnTo>
                  <a:pt x="0" y="1077226"/>
                </a:lnTo>
                <a:lnTo>
                  <a:pt x="0" y="1080008"/>
                </a:lnTo>
                <a:lnTo>
                  <a:pt x="241" y="1080008"/>
                </a:lnTo>
                <a:lnTo>
                  <a:pt x="4318" y="1125474"/>
                </a:lnTo>
                <a:lnTo>
                  <a:pt x="16789" y="1170889"/>
                </a:lnTo>
                <a:lnTo>
                  <a:pt x="36639" y="1212697"/>
                </a:lnTo>
                <a:lnTo>
                  <a:pt x="63119" y="1250149"/>
                </a:lnTo>
                <a:lnTo>
                  <a:pt x="95465" y="1282496"/>
                </a:lnTo>
                <a:lnTo>
                  <a:pt x="132918" y="1308976"/>
                </a:lnTo>
                <a:lnTo>
                  <a:pt x="174739" y="1328826"/>
                </a:lnTo>
                <a:lnTo>
                  <a:pt x="220141" y="1341297"/>
                </a:lnTo>
                <a:lnTo>
                  <a:pt x="268389" y="1345615"/>
                </a:lnTo>
                <a:lnTo>
                  <a:pt x="536790" y="1345615"/>
                </a:lnTo>
                <a:lnTo>
                  <a:pt x="536790" y="1080008"/>
                </a:lnTo>
                <a:lnTo>
                  <a:pt x="536790" y="1077226"/>
                </a:lnTo>
                <a:lnTo>
                  <a:pt x="536790" y="0"/>
                </a:lnTo>
                <a:close/>
              </a:path>
            </a:pathLst>
          </a:custGeom>
          <a:solidFill>
            <a:srgbClr val="FF7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58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98982" y="1599692"/>
            <a:ext cx="5156200" cy="4392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75628" y="1950318"/>
            <a:ext cx="5334634" cy="4490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 u="sng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58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811"/>
            <a:ext cx="12191998" cy="68496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36790" y="1464030"/>
            <a:ext cx="11118850" cy="5152390"/>
          </a:xfrm>
          <a:custGeom>
            <a:avLst/>
            <a:gdLst/>
            <a:ahLst/>
            <a:cxnLst/>
            <a:rect l="l" t="t" r="r" b="b"/>
            <a:pathLst>
              <a:path w="11118850" h="5152390">
                <a:moveTo>
                  <a:pt x="11118469" y="0"/>
                </a:moveTo>
                <a:lnTo>
                  <a:pt x="0" y="0"/>
                </a:lnTo>
                <a:lnTo>
                  <a:pt x="0" y="5152390"/>
                </a:lnTo>
                <a:lnTo>
                  <a:pt x="11118469" y="5152390"/>
                </a:lnTo>
                <a:lnTo>
                  <a:pt x="11118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6790" y="1464030"/>
            <a:ext cx="11118850" cy="5152390"/>
          </a:xfrm>
          <a:custGeom>
            <a:avLst/>
            <a:gdLst/>
            <a:ahLst/>
            <a:cxnLst/>
            <a:rect l="l" t="t" r="r" b="b"/>
            <a:pathLst>
              <a:path w="11118850" h="5152390">
                <a:moveTo>
                  <a:pt x="0" y="5152390"/>
                </a:moveTo>
                <a:lnTo>
                  <a:pt x="11118469" y="5152390"/>
                </a:lnTo>
                <a:lnTo>
                  <a:pt x="11118469" y="0"/>
                </a:lnTo>
                <a:lnTo>
                  <a:pt x="0" y="0"/>
                </a:lnTo>
                <a:lnTo>
                  <a:pt x="0" y="5152390"/>
                </a:lnTo>
                <a:close/>
              </a:path>
            </a:pathLst>
          </a:custGeom>
          <a:ln w="9525">
            <a:solidFill>
              <a:srgbClr val="C5DF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060149"/>
            <a:ext cx="537210" cy="1346200"/>
          </a:xfrm>
          <a:custGeom>
            <a:avLst/>
            <a:gdLst/>
            <a:ahLst/>
            <a:cxnLst/>
            <a:rect l="l" t="t" r="r" b="b"/>
            <a:pathLst>
              <a:path w="537210" h="1346200">
                <a:moveTo>
                  <a:pt x="536790" y="0"/>
                </a:moveTo>
                <a:lnTo>
                  <a:pt x="0" y="0"/>
                </a:lnTo>
                <a:lnTo>
                  <a:pt x="0" y="1077226"/>
                </a:lnTo>
                <a:lnTo>
                  <a:pt x="0" y="1080008"/>
                </a:lnTo>
                <a:lnTo>
                  <a:pt x="241" y="1080008"/>
                </a:lnTo>
                <a:lnTo>
                  <a:pt x="4318" y="1125474"/>
                </a:lnTo>
                <a:lnTo>
                  <a:pt x="16789" y="1170889"/>
                </a:lnTo>
                <a:lnTo>
                  <a:pt x="36639" y="1212697"/>
                </a:lnTo>
                <a:lnTo>
                  <a:pt x="63119" y="1250149"/>
                </a:lnTo>
                <a:lnTo>
                  <a:pt x="95465" y="1282496"/>
                </a:lnTo>
                <a:lnTo>
                  <a:pt x="132918" y="1308976"/>
                </a:lnTo>
                <a:lnTo>
                  <a:pt x="174739" y="1328826"/>
                </a:lnTo>
                <a:lnTo>
                  <a:pt x="220141" y="1341297"/>
                </a:lnTo>
                <a:lnTo>
                  <a:pt x="268389" y="1345615"/>
                </a:lnTo>
                <a:lnTo>
                  <a:pt x="536790" y="1345615"/>
                </a:lnTo>
                <a:lnTo>
                  <a:pt x="536790" y="1080008"/>
                </a:lnTo>
                <a:lnTo>
                  <a:pt x="536790" y="1077226"/>
                </a:lnTo>
                <a:lnTo>
                  <a:pt x="536790" y="0"/>
                </a:lnTo>
                <a:close/>
              </a:path>
            </a:pathLst>
          </a:custGeom>
          <a:solidFill>
            <a:srgbClr val="0078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876" y="273557"/>
            <a:ext cx="4612005" cy="895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58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8982" y="1599692"/>
            <a:ext cx="10589895" cy="4773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04638" y="6670573"/>
            <a:ext cx="1983104" cy="175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44273" y="6668744"/>
            <a:ext cx="281304" cy="1944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7" y="0"/>
            <a:ext cx="6490335" cy="6858000"/>
            <a:chOff x="2467" y="0"/>
            <a:chExt cx="64903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7" y="0"/>
              <a:ext cx="649003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442" y="195745"/>
              <a:ext cx="1027201" cy="101481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16900" y="561212"/>
            <a:ext cx="1747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13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337552" y="1103503"/>
            <a:ext cx="3505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VULGARISER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</a:t>
            </a:r>
            <a:r>
              <a:rPr sz="24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LANGAGE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9590" y="2462529"/>
            <a:ext cx="4838065" cy="3302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Introduction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à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et</a:t>
            </a:r>
            <a:r>
              <a:rPr sz="16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son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rôle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statistique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Préparation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l’environnement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Syntaxe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base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et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principaux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opérateurs</a:t>
            </a:r>
            <a:r>
              <a:rPr sz="16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Structures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données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fondamentales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Premières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manipulations</a:t>
            </a:r>
            <a:r>
              <a:rPr sz="1600" spc="-5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données</a:t>
            </a:r>
            <a:r>
              <a:rPr sz="16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Comparaison</a:t>
            </a:r>
            <a:r>
              <a:rPr sz="1600" spc="-4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des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fonctions</a:t>
            </a:r>
            <a:r>
              <a:rPr sz="1600" spc="-4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base</a:t>
            </a:r>
            <a:r>
              <a:rPr sz="1600" spc="-4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avec</a:t>
            </a:r>
            <a:r>
              <a:rPr sz="1600" spc="-4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Reprise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des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dernières</a:t>
            </a:r>
            <a:r>
              <a:rPr sz="16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applications</a:t>
            </a:r>
            <a:r>
              <a:rPr sz="1600" spc="-6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(Python/Excel)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79778" y="345681"/>
            <a:ext cx="10375900" cy="4902200"/>
            <a:chOff x="1279778" y="345681"/>
            <a:chExt cx="10375900" cy="49022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8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6033" y="2159000"/>
              <a:ext cx="2259838" cy="27019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86128" y="4681854"/>
              <a:ext cx="1325245" cy="559435"/>
            </a:xfrm>
            <a:custGeom>
              <a:avLst/>
              <a:gdLst/>
              <a:ahLst/>
              <a:cxnLst/>
              <a:rect l="l" t="t" r="r" b="b"/>
              <a:pathLst>
                <a:path w="1325245" h="559435">
                  <a:moveTo>
                    <a:pt x="1231900" y="0"/>
                  </a:moveTo>
                  <a:lnTo>
                    <a:pt x="93345" y="0"/>
                  </a:lnTo>
                  <a:lnTo>
                    <a:pt x="57007" y="7332"/>
                  </a:lnTo>
                  <a:lnTo>
                    <a:pt x="27336" y="27320"/>
                  </a:lnTo>
                  <a:lnTo>
                    <a:pt x="7334" y="56953"/>
                  </a:lnTo>
                  <a:lnTo>
                    <a:pt x="0" y="93218"/>
                  </a:lnTo>
                  <a:lnTo>
                    <a:pt x="0" y="466217"/>
                  </a:lnTo>
                  <a:lnTo>
                    <a:pt x="7334" y="502535"/>
                  </a:lnTo>
                  <a:lnTo>
                    <a:pt x="27336" y="532161"/>
                  </a:lnTo>
                  <a:lnTo>
                    <a:pt x="57007" y="552120"/>
                  </a:lnTo>
                  <a:lnTo>
                    <a:pt x="93345" y="559435"/>
                  </a:lnTo>
                  <a:lnTo>
                    <a:pt x="1231900" y="559435"/>
                  </a:lnTo>
                  <a:lnTo>
                    <a:pt x="1268164" y="552120"/>
                  </a:lnTo>
                  <a:lnTo>
                    <a:pt x="1297797" y="532161"/>
                  </a:lnTo>
                  <a:lnTo>
                    <a:pt x="1317785" y="502535"/>
                  </a:lnTo>
                  <a:lnTo>
                    <a:pt x="1325118" y="466217"/>
                  </a:lnTo>
                  <a:lnTo>
                    <a:pt x="1325118" y="93218"/>
                  </a:lnTo>
                  <a:lnTo>
                    <a:pt x="1317785" y="56953"/>
                  </a:lnTo>
                  <a:lnTo>
                    <a:pt x="1297797" y="27320"/>
                  </a:lnTo>
                  <a:lnTo>
                    <a:pt x="1268164" y="7332"/>
                  </a:lnTo>
                  <a:lnTo>
                    <a:pt x="12319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6128" y="4681854"/>
              <a:ext cx="1325245" cy="559435"/>
            </a:xfrm>
            <a:custGeom>
              <a:avLst/>
              <a:gdLst/>
              <a:ahLst/>
              <a:cxnLst/>
              <a:rect l="l" t="t" r="r" b="b"/>
              <a:pathLst>
                <a:path w="1325245" h="559435">
                  <a:moveTo>
                    <a:pt x="0" y="93218"/>
                  </a:moveTo>
                  <a:lnTo>
                    <a:pt x="7334" y="56953"/>
                  </a:lnTo>
                  <a:lnTo>
                    <a:pt x="27336" y="27320"/>
                  </a:lnTo>
                  <a:lnTo>
                    <a:pt x="57007" y="7332"/>
                  </a:lnTo>
                  <a:lnTo>
                    <a:pt x="93345" y="0"/>
                  </a:lnTo>
                  <a:lnTo>
                    <a:pt x="1231900" y="0"/>
                  </a:lnTo>
                  <a:lnTo>
                    <a:pt x="1268164" y="7332"/>
                  </a:lnTo>
                  <a:lnTo>
                    <a:pt x="1297797" y="27320"/>
                  </a:lnTo>
                  <a:lnTo>
                    <a:pt x="1317785" y="56953"/>
                  </a:lnTo>
                  <a:lnTo>
                    <a:pt x="1325118" y="93218"/>
                  </a:lnTo>
                  <a:lnTo>
                    <a:pt x="1325118" y="466217"/>
                  </a:lnTo>
                  <a:lnTo>
                    <a:pt x="1317785" y="502535"/>
                  </a:lnTo>
                  <a:lnTo>
                    <a:pt x="1297797" y="532161"/>
                  </a:lnTo>
                  <a:lnTo>
                    <a:pt x="1268164" y="552120"/>
                  </a:lnTo>
                  <a:lnTo>
                    <a:pt x="1231900" y="559435"/>
                  </a:lnTo>
                  <a:lnTo>
                    <a:pt x="93345" y="559435"/>
                  </a:lnTo>
                  <a:lnTo>
                    <a:pt x="57007" y="552120"/>
                  </a:lnTo>
                  <a:lnTo>
                    <a:pt x="27336" y="532161"/>
                  </a:lnTo>
                  <a:lnTo>
                    <a:pt x="7334" y="502535"/>
                  </a:lnTo>
                  <a:lnTo>
                    <a:pt x="0" y="466217"/>
                  </a:lnTo>
                  <a:lnTo>
                    <a:pt x="0" y="93218"/>
                  </a:lnTo>
                  <a:close/>
                </a:path>
              </a:pathLst>
            </a:custGeom>
            <a:ln w="12700">
              <a:solidFill>
                <a:srgbClr val="6C4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dirty="0">
                <a:solidFill>
                  <a:srgbClr val="007842"/>
                </a:solidFill>
              </a:rPr>
              <a:t>Structures</a:t>
            </a:r>
            <a:r>
              <a:rPr sz="1600" spc="-2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fondamentales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4" name="object 14"/>
          <p:cNvSpPr txBox="1"/>
          <p:nvPr/>
        </p:nvSpPr>
        <p:spPr>
          <a:xfrm>
            <a:off x="798982" y="1599692"/>
            <a:ext cx="7216140" cy="2578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Introduction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R,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structures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servent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organiser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stocker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l'information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Tout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objet</a:t>
            </a:r>
            <a:endParaRPr sz="1600">
              <a:latin typeface="Calibri"/>
              <a:cs typeface="Calibri"/>
            </a:endParaRPr>
          </a:p>
          <a:p>
            <a:pPr marL="299085" marR="5080" indent="-287020">
              <a:lnSpc>
                <a:spcPct val="15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vecteurs,</a:t>
            </a:r>
            <a:r>
              <a:rPr sz="16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matrices,</a:t>
            </a:r>
            <a:r>
              <a:rPr sz="16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listes</a:t>
            </a:r>
            <a:r>
              <a:rPr sz="16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data</a:t>
            </a:r>
            <a:r>
              <a:rPr sz="16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frames</a:t>
            </a:r>
            <a:r>
              <a:rPr sz="160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6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exemples</a:t>
            </a:r>
            <a:r>
              <a:rPr sz="16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clés.</a:t>
            </a:r>
            <a:r>
              <a:rPr sz="16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Ils</a:t>
            </a:r>
            <a:r>
              <a:rPr sz="1600" spc="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offrent</a:t>
            </a:r>
            <a:r>
              <a:rPr sz="16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une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flexibilité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essentielle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manipuler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efficacement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dans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langage</a:t>
            </a:r>
            <a:r>
              <a:rPr sz="16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Chaque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structure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conçue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besoins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particuliers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Parmi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structures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données</a:t>
            </a:r>
            <a:r>
              <a:rPr sz="16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plus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utilisées,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on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trouve: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3783" y="4815281"/>
            <a:ext cx="7499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374151"/>
                </a:solidFill>
                <a:latin typeface="Calibri"/>
                <a:cs typeface="Calibri"/>
              </a:rPr>
              <a:t>Vecteurs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80792" y="4675504"/>
            <a:ext cx="1337945" cy="572135"/>
            <a:chOff x="2780792" y="4675504"/>
            <a:chExt cx="1337945" cy="572135"/>
          </a:xfrm>
        </p:grpSpPr>
        <p:sp>
          <p:nvSpPr>
            <p:cNvPr id="17" name="object 17"/>
            <p:cNvSpPr/>
            <p:nvPr/>
          </p:nvSpPr>
          <p:spPr>
            <a:xfrm>
              <a:off x="2787142" y="4681854"/>
              <a:ext cx="1325245" cy="559435"/>
            </a:xfrm>
            <a:custGeom>
              <a:avLst/>
              <a:gdLst/>
              <a:ahLst/>
              <a:cxnLst/>
              <a:rect l="l" t="t" r="r" b="b"/>
              <a:pathLst>
                <a:path w="1325245" h="559435">
                  <a:moveTo>
                    <a:pt x="1231772" y="0"/>
                  </a:moveTo>
                  <a:lnTo>
                    <a:pt x="93344" y="0"/>
                  </a:lnTo>
                  <a:lnTo>
                    <a:pt x="57007" y="7332"/>
                  </a:lnTo>
                  <a:lnTo>
                    <a:pt x="27336" y="27320"/>
                  </a:lnTo>
                  <a:lnTo>
                    <a:pt x="7334" y="56953"/>
                  </a:lnTo>
                  <a:lnTo>
                    <a:pt x="0" y="93218"/>
                  </a:lnTo>
                  <a:lnTo>
                    <a:pt x="0" y="466217"/>
                  </a:lnTo>
                  <a:lnTo>
                    <a:pt x="7334" y="502535"/>
                  </a:lnTo>
                  <a:lnTo>
                    <a:pt x="27336" y="532161"/>
                  </a:lnTo>
                  <a:lnTo>
                    <a:pt x="57007" y="552120"/>
                  </a:lnTo>
                  <a:lnTo>
                    <a:pt x="93344" y="559435"/>
                  </a:lnTo>
                  <a:lnTo>
                    <a:pt x="1231772" y="559435"/>
                  </a:lnTo>
                  <a:lnTo>
                    <a:pt x="1268110" y="552120"/>
                  </a:lnTo>
                  <a:lnTo>
                    <a:pt x="1297781" y="532161"/>
                  </a:lnTo>
                  <a:lnTo>
                    <a:pt x="1317783" y="502535"/>
                  </a:lnTo>
                  <a:lnTo>
                    <a:pt x="1325118" y="466217"/>
                  </a:lnTo>
                  <a:lnTo>
                    <a:pt x="1325118" y="93218"/>
                  </a:lnTo>
                  <a:lnTo>
                    <a:pt x="1317783" y="56953"/>
                  </a:lnTo>
                  <a:lnTo>
                    <a:pt x="1297781" y="27320"/>
                  </a:lnTo>
                  <a:lnTo>
                    <a:pt x="1268110" y="7332"/>
                  </a:lnTo>
                  <a:lnTo>
                    <a:pt x="12317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87142" y="4681854"/>
              <a:ext cx="1325245" cy="559435"/>
            </a:xfrm>
            <a:custGeom>
              <a:avLst/>
              <a:gdLst/>
              <a:ahLst/>
              <a:cxnLst/>
              <a:rect l="l" t="t" r="r" b="b"/>
              <a:pathLst>
                <a:path w="1325245" h="559435">
                  <a:moveTo>
                    <a:pt x="0" y="93218"/>
                  </a:moveTo>
                  <a:lnTo>
                    <a:pt x="7334" y="56953"/>
                  </a:lnTo>
                  <a:lnTo>
                    <a:pt x="27336" y="27320"/>
                  </a:lnTo>
                  <a:lnTo>
                    <a:pt x="57007" y="7332"/>
                  </a:lnTo>
                  <a:lnTo>
                    <a:pt x="93344" y="0"/>
                  </a:lnTo>
                  <a:lnTo>
                    <a:pt x="1231772" y="0"/>
                  </a:lnTo>
                  <a:lnTo>
                    <a:pt x="1268110" y="7332"/>
                  </a:lnTo>
                  <a:lnTo>
                    <a:pt x="1297781" y="27320"/>
                  </a:lnTo>
                  <a:lnTo>
                    <a:pt x="1317783" y="56953"/>
                  </a:lnTo>
                  <a:lnTo>
                    <a:pt x="1325118" y="93218"/>
                  </a:lnTo>
                  <a:lnTo>
                    <a:pt x="1325118" y="466217"/>
                  </a:lnTo>
                  <a:lnTo>
                    <a:pt x="1317783" y="502535"/>
                  </a:lnTo>
                  <a:lnTo>
                    <a:pt x="1297781" y="532161"/>
                  </a:lnTo>
                  <a:lnTo>
                    <a:pt x="1268110" y="552120"/>
                  </a:lnTo>
                  <a:lnTo>
                    <a:pt x="1231772" y="559435"/>
                  </a:lnTo>
                  <a:lnTo>
                    <a:pt x="93344" y="559435"/>
                  </a:lnTo>
                  <a:lnTo>
                    <a:pt x="57007" y="552120"/>
                  </a:lnTo>
                  <a:lnTo>
                    <a:pt x="27336" y="532161"/>
                  </a:lnTo>
                  <a:lnTo>
                    <a:pt x="7334" y="502535"/>
                  </a:lnTo>
                  <a:lnTo>
                    <a:pt x="0" y="466217"/>
                  </a:lnTo>
                  <a:lnTo>
                    <a:pt x="0" y="93218"/>
                  </a:lnTo>
                  <a:close/>
                </a:path>
              </a:pathLst>
            </a:custGeom>
            <a:ln w="12700">
              <a:solidFill>
                <a:srgbClr val="6C4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04717" y="4815281"/>
            <a:ext cx="490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374151"/>
                </a:solidFill>
                <a:latin typeface="Calibri"/>
                <a:cs typeface="Calibri"/>
              </a:rPr>
              <a:t>Listes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82817" y="4675504"/>
            <a:ext cx="1337945" cy="572135"/>
            <a:chOff x="5782817" y="4675504"/>
            <a:chExt cx="1337945" cy="572135"/>
          </a:xfrm>
        </p:grpSpPr>
        <p:sp>
          <p:nvSpPr>
            <p:cNvPr id="21" name="object 21"/>
            <p:cNvSpPr/>
            <p:nvPr/>
          </p:nvSpPr>
          <p:spPr>
            <a:xfrm>
              <a:off x="5789167" y="4681854"/>
              <a:ext cx="1325245" cy="559435"/>
            </a:xfrm>
            <a:custGeom>
              <a:avLst/>
              <a:gdLst/>
              <a:ahLst/>
              <a:cxnLst/>
              <a:rect l="l" t="t" r="r" b="b"/>
              <a:pathLst>
                <a:path w="1325245" h="559435">
                  <a:moveTo>
                    <a:pt x="1231773" y="0"/>
                  </a:moveTo>
                  <a:lnTo>
                    <a:pt x="93218" y="0"/>
                  </a:lnTo>
                  <a:lnTo>
                    <a:pt x="56953" y="7332"/>
                  </a:lnTo>
                  <a:lnTo>
                    <a:pt x="27320" y="27320"/>
                  </a:lnTo>
                  <a:lnTo>
                    <a:pt x="7332" y="56953"/>
                  </a:lnTo>
                  <a:lnTo>
                    <a:pt x="0" y="93218"/>
                  </a:lnTo>
                  <a:lnTo>
                    <a:pt x="0" y="466217"/>
                  </a:lnTo>
                  <a:lnTo>
                    <a:pt x="7332" y="502535"/>
                  </a:lnTo>
                  <a:lnTo>
                    <a:pt x="27320" y="532161"/>
                  </a:lnTo>
                  <a:lnTo>
                    <a:pt x="56953" y="552120"/>
                  </a:lnTo>
                  <a:lnTo>
                    <a:pt x="93218" y="559435"/>
                  </a:lnTo>
                  <a:lnTo>
                    <a:pt x="1231773" y="559435"/>
                  </a:lnTo>
                  <a:lnTo>
                    <a:pt x="1268037" y="552120"/>
                  </a:lnTo>
                  <a:lnTo>
                    <a:pt x="1297670" y="532161"/>
                  </a:lnTo>
                  <a:lnTo>
                    <a:pt x="1317658" y="502535"/>
                  </a:lnTo>
                  <a:lnTo>
                    <a:pt x="1324990" y="466217"/>
                  </a:lnTo>
                  <a:lnTo>
                    <a:pt x="1324990" y="93218"/>
                  </a:lnTo>
                  <a:lnTo>
                    <a:pt x="1317658" y="56953"/>
                  </a:lnTo>
                  <a:lnTo>
                    <a:pt x="1297670" y="27320"/>
                  </a:lnTo>
                  <a:lnTo>
                    <a:pt x="1268037" y="7332"/>
                  </a:lnTo>
                  <a:lnTo>
                    <a:pt x="123177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89167" y="4681854"/>
              <a:ext cx="1325245" cy="559435"/>
            </a:xfrm>
            <a:custGeom>
              <a:avLst/>
              <a:gdLst/>
              <a:ahLst/>
              <a:cxnLst/>
              <a:rect l="l" t="t" r="r" b="b"/>
              <a:pathLst>
                <a:path w="1325245" h="559435">
                  <a:moveTo>
                    <a:pt x="0" y="93218"/>
                  </a:moveTo>
                  <a:lnTo>
                    <a:pt x="7332" y="56953"/>
                  </a:lnTo>
                  <a:lnTo>
                    <a:pt x="27320" y="27320"/>
                  </a:lnTo>
                  <a:lnTo>
                    <a:pt x="56953" y="7332"/>
                  </a:lnTo>
                  <a:lnTo>
                    <a:pt x="93218" y="0"/>
                  </a:lnTo>
                  <a:lnTo>
                    <a:pt x="1231773" y="0"/>
                  </a:lnTo>
                  <a:lnTo>
                    <a:pt x="1268037" y="7332"/>
                  </a:lnTo>
                  <a:lnTo>
                    <a:pt x="1297670" y="27320"/>
                  </a:lnTo>
                  <a:lnTo>
                    <a:pt x="1317658" y="56953"/>
                  </a:lnTo>
                  <a:lnTo>
                    <a:pt x="1324990" y="93218"/>
                  </a:lnTo>
                  <a:lnTo>
                    <a:pt x="1324990" y="466217"/>
                  </a:lnTo>
                  <a:lnTo>
                    <a:pt x="1317658" y="502535"/>
                  </a:lnTo>
                  <a:lnTo>
                    <a:pt x="1297670" y="532161"/>
                  </a:lnTo>
                  <a:lnTo>
                    <a:pt x="1268037" y="552120"/>
                  </a:lnTo>
                  <a:lnTo>
                    <a:pt x="1231773" y="559435"/>
                  </a:lnTo>
                  <a:lnTo>
                    <a:pt x="93218" y="559435"/>
                  </a:lnTo>
                  <a:lnTo>
                    <a:pt x="56953" y="552120"/>
                  </a:lnTo>
                  <a:lnTo>
                    <a:pt x="27320" y="532161"/>
                  </a:lnTo>
                  <a:lnTo>
                    <a:pt x="7332" y="502535"/>
                  </a:lnTo>
                  <a:lnTo>
                    <a:pt x="0" y="466217"/>
                  </a:lnTo>
                  <a:lnTo>
                    <a:pt x="0" y="93218"/>
                  </a:lnTo>
                  <a:close/>
                </a:path>
              </a:pathLst>
            </a:custGeom>
            <a:ln w="12700">
              <a:solidFill>
                <a:srgbClr val="6C4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71361" y="4815281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374151"/>
                </a:solidFill>
                <a:latin typeface="Calibri"/>
                <a:cs typeface="Calibri"/>
              </a:rPr>
              <a:t>Matrices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283831" y="4675504"/>
            <a:ext cx="1337945" cy="572135"/>
            <a:chOff x="7283831" y="4675504"/>
            <a:chExt cx="1337945" cy="572135"/>
          </a:xfrm>
        </p:grpSpPr>
        <p:sp>
          <p:nvSpPr>
            <p:cNvPr id="25" name="object 25"/>
            <p:cNvSpPr/>
            <p:nvPr/>
          </p:nvSpPr>
          <p:spPr>
            <a:xfrm>
              <a:off x="7290181" y="4681854"/>
              <a:ext cx="1325245" cy="559435"/>
            </a:xfrm>
            <a:custGeom>
              <a:avLst/>
              <a:gdLst/>
              <a:ahLst/>
              <a:cxnLst/>
              <a:rect l="l" t="t" r="r" b="b"/>
              <a:pathLst>
                <a:path w="1325245" h="559435">
                  <a:moveTo>
                    <a:pt x="1231773" y="0"/>
                  </a:moveTo>
                  <a:lnTo>
                    <a:pt x="93218" y="0"/>
                  </a:lnTo>
                  <a:lnTo>
                    <a:pt x="56899" y="7332"/>
                  </a:lnTo>
                  <a:lnTo>
                    <a:pt x="27273" y="27320"/>
                  </a:lnTo>
                  <a:lnTo>
                    <a:pt x="7314" y="56953"/>
                  </a:lnTo>
                  <a:lnTo>
                    <a:pt x="0" y="93218"/>
                  </a:lnTo>
                  <a:lnTo>
                    <a:pt x="0" y="466217"/>
                  </a:lnTo>
                  <a:lnTo>
                    <a:pt x="7314" y="502535"/>
                  </a:lnTo>
                  <a:lnTo>
                    <a:pt x="27273" y="532161"/>
                  </a:lnTo>
                  <a:lnTo>
                    <a:pt x="56899" y="552120"/>
                  </a:lnTo>
                  <a:lnTo>
                    <a:pt x="93218" y="559435"/>
                  </a:lnTo>
                  <a:lnTo>
                    <a:pt x="1231773" y="559435"/>
                  </a:lnTo>
                  <a:lnTo>
                    <a:pt x="1268037" y="552120"/>
                  </a:lnTo>
                  <a:lnTo>
                    <a:pt x="1297670" y="532161"/>
                  </a:lnTo>
                  <a:lnTo>
                    <a:pt x="1317658" y="502535"/>
                  </a:lnTo>
                  <a:lnTo>
                    <a:pt x="1324991" y="466217"/>
                  </a:lnTo>
                  <a:lnTo>
                    <a:pt x="1324991" y="93218"/>
                  </a:lnTo>
                  <a:lnTo>
                    <a:pt x="1317658" y="56953"/>
                  </a:lnTo>
                  <a:lnTo>
                    <a:pt x="1297670" y="27320"/>
                  </a:lnTo>
                  <a:lnTo>
                    <a:pt x="1268037" y="7332"/>
                  </a:lnTo>
                  <a:lnTo>
                    <a:pt x="123177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90181" y="4681854"/>
              <a:ext cx="1325245" cy="559435"/>
            </a:xfrm>
            <a:custGeom>
              <a:avLst/>
              <a:gdLst/>
              <a:ahLst/>
              <a:cxnLst/>
              <a:rect l="l" t="t" r="r" b="b"/>
              <a:pathLst>
                <a:path w="1325245" h="559435">
                  <a:moveTo>
                    <a:pt x="0" y="93218"/>
                  </a:moveTo>
                  <a:lnTo>
                    <a:pt x="7314" y="56953"/>
                  </a:lnTo>
                  <a:lnTo>
                    <a:pt x="27273" y="27320"/>
                  </a:lnTo>
                  <a:lnTo>
                    <a:pt x="56899" y="7332"/>
                  </a:lnTo>
                  <a:lnTo>
                    <a:pt x="93218" y="0"/>
                  </a:lnTo>
                  <a:lnTo>
                    <a:pt x="1231773" y="0"/>
                  </a:lnTo>
                  <a:lnTo>
                    <a:pt x="1268037" y="7332"/>
                  </a:lnTo>
                  <a:lnTo>
                    <a:pt x="1297670" y="27320"/>
                  </a:lnTo>
                  <a:lnTo>
                    <a:pt x="1317658" y="56953"/>
                  </a:lnTo>
                  <a:lnTo>
                    <a:pt x="1324991" y="93218"/>
                  </a:lnTo>
                  <a:lnTo>
                    <a:pt x="1324991" y="466217"/>
                  </a:lnTo>
                  <a:lnTo>
                    <a:pt x="1317658" y="502535"/>
                  </a:lnTo>
                  <a:lnTo>
                    <a:pt x="1297670" y="532161"/>
                  </a:lnTo>
                  <a:lnTo>
                    <a:pt x="1268037" y="552120"/>
                  </a:lnTo>
                  <a:lnTo>
                    <a:pt x="1231773" y="559435"/>
                  </a:lnTo>
                  <a:lnTo>
                    <a:pt x="93218" y="559435"/>
                  </a:lnTo>
                  <a:lnTo>
                    <a:pt x="56899" y="552120"/>
                  </a:lnTo>
                  <a:lnTo>
                    <a:pt x="27273" y="532161"/>
                  </a:lnTo>
                  <a:lnTo>
                    <a:pt x="7314" y="502535"/>
                  </a:lnTo>
                  <a:lnTo>
                    <a:pt x="0" y="466217"/>
                  </a:lnTo>
                  <a:lnTo>
                    <a:pt x="0" y="93218"/>
                  </a:lnTo>
                  <a:close/>
                </a:path>
              </a:pathLst>
            </a:custGeom>
            <a:ln w="12700">
              <a:solidFill>
                <a:srgbClr val="6C4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673085" y="4815281"/>
            <a:ext cx="560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374151"/>
                </a:solidFill>
                <a:latin typeface="Calibri"/>
                <a:cs typeface="Calibri"/>
              </a:rPr>
              <a:t>Arrays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81804" y="4675504"/>
            <a:ext cx="1337945" cy="572135"/>
            <a:chOff x="4281804" y="4675504"/>
            <a:chExt cx="1337945" cy="572135"/>
          </a:xfrm>
        </p:grpSpPr>
        <p:sp>
          <p:nvSpPr>
            <p:cNvPr id="29" name="object 29"/>
            <p:cNvSpPr/>
            <p:nvPr/>
          </p:nvSpPr>
          <p:spPr>
            <a:xfrm>
              <a:off x="4288154" y="4681854"/>
              <a:ext cx="1325245" cy="559435"/>
            </a:xfrm>
            <a:custGeom>
              <a:avLst/>
              <a:gdLst/>
              <a:ahLst/>
              <a:cxnLst/>
              <a:rect l="l" t="t" r="r" b="b"/>
              <a:pathLst>
                <a:path w="1325245" h="559435">
                  <a:moveTo>
                    <a:pt x="1231773" y="0"/>
                  </a:moveTo>
                  <a:lnTo>
                    <a:pt x="93218" y="0"/>
                  </a:lnTo>
                  <a:lnTo>
                    <a:pt x="56953" y="7332"/>
                  </a:lnTo>
                  <a:lnTo>
                    <a:pt x="27320" y="27320"/>
                  </a:lnTo>
                  <a:lnTo>
                    <a:pt x="7332" y="56953"/>
                  </a:lnTo>
                  <a:lnTo>
                    <a:pt x="0" y="93218"/>
                  </a:lnTo>
                  <a:lnTo>
                    <a:pt x="0" y="466217"/>
                  </a:lnTo>
                  <a:lnTo>
                    <a:pt x="7332" y="502535"/>
                  </a:lnTo>
                  <a:lnTo>
                    <a:pt x="27320" y="532161"/>
                  </a:lnTo>
                  <a:lnTo>
                    <a:pt x="56953" y="552120"/>
                  </a:lnTo>
                  <a:lnTo>
                    <a:pt x="93218" y="559435"/>
                  </a:lnTo>
                  <a:lnTo>
                    <a:pt x="1231773" y="559435"/>
                  </a:lnTo>
                  <a:lnTo>
                    <a:pt x="1268091" y="552120"/>
                  </a:lnTo>
                  <a:lnTo>
                    <a:pt x="1297717" y="532161"/>
                  </a:lnTo>
                  <a:lnTo>
                    <a:pt x="1317676" y="502535"/>
                  </a:lnTo>
                  <a:lnTo>
                    <a:pt x="1324991" y="466217"/>
                  </a:lnTo>
                  <a:lnTo>
                    <a:pt x="1324991" y="93218"/>
                  </a:lnTo>
                  <a:lnTo>
                    <a:pt x="1317676" y="56953"/>
                  </a:lnTo>
                  <a:lnTo>
                    <a:pt x="1297717" y="27320"/>
                  </a:lnTo>
                  <a:lnTo>
                    <a:pt x="1268091" y="7332"/>
                  </a:lnTo>
                  <a:lnTo>
                    <a:pt x="123177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88154" y="4681854"/>
              <a:ext cx="1325245" cy="559435"/>
            </a:xfrm>
            <a:custGeom>
              <a:avLst/>
              <a:gdLst/>
              <a:ahLst/>
              <a:cxnLst/>
              <a:rect l="l" t="t" r="r" b="b"/>
              <a:pathLst>
                <a:path w="1325245" h="559435">
                  <a:moveTo>
                    <a:pt x="0" y="93218"/>
                  </a:moveTo>
                  <a:lnTo>
                    <a:pt x="7332" y="56953"/>
                  </a:lnTo>
                  <a:lnTo>
                    <a:pt x="27320" y="27320"/>
                  </a:lnTo>
                  <a:lnTo>
                    <a:pt x="56953" y="7332"/>
                  </a:lnTo>
                  <a:lnTo>
                    <a:pt x="93218" y="0"/>
                  </a:lnTo>
                  <a:lnTo>
                    <a:pt x="1231773" y="0"/>
                  </a:lnTo>
                  <a:lnTo>
                    <a:pt x="1268091" y="7332"/>
                  </a:lnTo>
                  <a:lnTo>
                    <a:pt x="1297717" y="27320"/>
                  </a:lnTo>
                  <a:lnTo>
                    <a:pt x="1317676" y="56953"/>
                  </a:lnTo>
                  <a:lnTo>
                    <a:pt x="1324991" y="93218"/>
                  </a:lnTo>
                  <a:lnTo>
                    <a:pt x="1324991" y="466217"/>
                  </a:lnTo>
                  <a:lnTo>
                    <a:pt x="1317676" y="502535"/>
                  </a:lnTo>
                  <a:lnTo>
                    <a:pt x="1297717" y="532161"/>
                  </a:lnTo>
                  <a:lnTo>
                    <a:pt x="1268091" y="552120"/>
                  </a:lnTo>
                  <a:lnTo>
                    <a:pt x="1231773" y="559435"/>
                  </a:lnTo>
                  <a:lnTo>
                    <a:pt x="93218" y="559435"/>
                  </a:lnTo>
                  <a:lnTo>
                    <a:pt x="56953" y="552120"/>
                  </a:lnTo>
                  <a:lnTo>
                    <a:pt x="27320" y="532161"/>
                  </a:lnTo>
                  <a:lnTo>
                    <a:pt x="7332" y="502535"/>
                  </a:lnTo>
                  <a:lnTo>
                    <a:pt x="0" y="466217"/>
                  </a:lnTo>
                  <a:lnTo>
                    <a:pt x="0" y="93218"/>
                  </a:lnTo>
                  <a:close/>
                </a:path>
              </a:pathLst>
            </a:custGeom>
            <a:ln w="12700">
              <a:solidFill>
                <a:srgbClr val="6C4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14773" y="4815281"/>
            <a:ext cx="10750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Data</a:t>
            </a:r>
            <a:r>
              <a:rPr sz="1600" b="1" spc="-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74151"/>
                </a:solidFill>
                <a:latin typeface="Calibri"/>
                <a:cs typeface="Calibri"/>
              </a:rPr>
              <a:t>Frames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dirty="0">
                <a:solidFill>
                  <a:srgbClr val="007842"/>
                </a:solidFill>
              </a:rPr>
              <a:t>Structures</a:t>
            </a:r>
            <a:r>
              <a:rPr sz="1600" spc="-2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fondamentales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1599692"/>
            <a:ext cx="33693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Résumé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des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structures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données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5569407"/>
            <a:ext cx="105898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Ces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structures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données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offrent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différentes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façons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stocker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organiser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l'information</a:t>
            </a:r>
            <a:r>
              <a:rPr sz="16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fonction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besoins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spécifiques</a:t>
            </a:r>
            <a:r>
              <a:rPr sz="16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l'analyse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données.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685417" y="2328672"/>
          <a:ext cx="8803004" cy="2745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2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505">
                <a:tc>
                  <a:txBody>
                    <a:bodyPr/>
                    <a:lstStyle/>
                    <a:p>
                      <a:pPr marL="57785" marR="5969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Structure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de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Données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Exemple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de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Création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Vecteurs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Liste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ordonnée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d'éléments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du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même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type.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vecteur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c(1,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2,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3,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4,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5)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Listes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ordonnée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d'éléments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hétérogènes.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liste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list("John",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25,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TRUE)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Matrices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58419" marR="1384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Tableau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bidimensionnel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d'éléments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du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même type.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matrice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matrix(1:9,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nrow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3,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ncol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3)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Arrays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58419" marR="3956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Tableau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multidimensionnel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d'éléments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du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même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type.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array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array(1:8,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dim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c(2,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2,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2))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Frames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Tableau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rectangulaire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données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hétérogènes.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data_frame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&lt;-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data.frame(Nom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=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c("John",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"Jane"),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Age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c(25,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30),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Marié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c(TRUE,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FALSE))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2083" y="345681"/>
            <a:ext cx="10633710" cy="5287645"/>
            <a:chOff x="1022083" y="345681"/>
            <a:chExt cx="10633710" cy="528764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8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1608" y="3773830"/>
              <a:ext cx="10123297" cy="18496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26845" y="3769068"/>
              <a:ext cx="10133330" cy="1859280"/>
            </a:xfrm>
            <a:custGeom>
              <a:avLst/>
              <a:gdLst/>
              <a:ahLst/>
              <a:cxnLst/>
              <a:rect l="l" t="t" r="r" b="b"/>
              <a:pathLst>
                <a:path w="10133330" h="1859279">
                  <a:moveTo>
                    <a:pt x="0" y="1859152"/>
                  </a:moveTo>
                  <a:lnTo>
                    <a:pt x="10132822" y="1859152"/>
                  </a:lnTo>
                  <a:lnTo>
                    <a:pt x="10132822" y="0"/>
                  </a:lnTo>
                  <a:lnTo>
                    <a:pt x="0" y="0"/>
                  </a:lnTo>
                  <a:lnTo>
                    <a:pt x="0" y="1859152"/>
                  </a:lnTo>
                  <a:close/>
                </a:path>
              </a:pathLst>
            </a:custGeom>
            <a:ln w="952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dirty="0">
                <a:solidFill>
                  <a:srgbClr val="007842"/>
                </a:solidFill>
              </a:rPr>
              <a:t>Structures</a:t>
            </a:r>
            <a:r>
              <a:rPr sz="1600" spc="-2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fondamentales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798982" y="1599692"/>
            <a:ext cx="7975600" cy="1846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Introduire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vecteurs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vecteurs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séquences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ordonnées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d'éléments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même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type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Ils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peuvent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être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créés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l'aide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c()</a:t>
            </a:r>
            <a:r>
              <a:rPr sz="16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sont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utiles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stocker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valeurs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simples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006FC0"/>
                </a:solidFill>
                <a:latin typeface="Calibri"/>
                <a:cs typeface="Calibri"/>
              </a:rPr>
              <a:t>Création</a:t>
            </a:r>
            <a:r>
              <a:rPr sz="16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1600" b="1" spc="-20" dirty="0">
                <a:solidFill>
                  <a:srgbClr val="006FC0"/>
                </a:solidFill>
                <a:latin typeface="Calibri"/>
                <a:cs typeface="Calibri"/>
              </a:rPr>
              <a:t> Vecteurs</a:t>
            </a: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98982" y="1950318"/>
            <a:ext cx="2317115" cy="72580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Longueur</a:t>
            </a:r>
            <a:r>
              <a:rPr sz="16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d'un</a:t>
            </a:r>
            <a:r>
              <a:rPr sz="16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006FC0"/>
                </a:solidFill>
                <a:latin typeface="Calibri"/>
                <a:cs typeface="Calibri"/>
              </a:rPr>
              <a:t>Vecteur</a:t>
            </a:r>
            <a:r>
              <a:rPr sz="16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longueur_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villes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length(villes)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3002420"/>
            <a:ext cx="4649470" cy="200533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Accès</a:t>
            </a:r>
            <a:r>
              <a:rPr sz="16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aux</a:t>
            </a:r>
            <a:r>
              <a:rPr sz="16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006FC0"/>
                </a:solidFill>
                <a:latin typeface="Calibri"/>
                <a:cs typeface="Calibri"/>
              </a:rPr>
              <a:t>Vecteurs</a:t>
            </a:r>
            <a:r>
              <a:rPr sz="16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premiere_ville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villes[1]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4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Accédez</a:t>
            </a:r>
            <a:r>
              <a:rPr sz="14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à</a:t>
            </a:r>
            <a:r>
              <a:rPr sz="140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plusieurs</a:t>
            </a:r>
            <a:r>
              <a:rPr sz="14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éléments</a:t>
            </a:r>
            <a:r>
              <a:rPr sz="14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par</a:t>
            </a:r>
            <a:r>
              <a:rPr sz="14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indice</a:t>
            </a:r>
            <a:r>
              <a:rPr sz="140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spc="-50" dirty="0">
                <a:solidFill>
                  <a:srgbClr val="008000"/>
                </a:solidFill>
                <a:latin typeface="Consolas"/>
                <a:cs typeface="Consolas"/>
              </a:rPr>
              <a:t>: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villes_selectionnes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villes[c(1,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3)]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40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Accédez</a:t>
            </a:r>
            <a:r>
              <a:rPr sz="14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à</a:t>
            </a:r>
            <a:r>
              <a:rPr sz="14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tous</a:t>
            </a:r>
            <a:r>
              <a:rPr sz="14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les</a:t>
            </a:r>
            <a:r>
              <a:rPr sz="140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éléments</a:t>
            </a:r>
            <a:r>
              <a:rPr sz="1400" spc="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sauf</a:t>
            </a:r>
            <a:r>
              <a:rPr sz="140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le</a:t>
            </a:r>
            <a:r>
              <a:rPr sz="1400" spc="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premier</a:t>
            </a:r>
            <a:r>
              <a:rPr sz="14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spc="-50" dirty="0">
                <a:solidFill>
                  <a:srgbClr val="008000"/>
                </a:solidFill>
                <a:latin typeface="Consolas"/>
                <a:cs typeface="Consolas"/>
              </a:rPr>
              <a:t>: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villes_restants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villes[c(-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1)]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dirty="0">
                <a:solidFill>
                  <a:srgbClr val="007842"/>
                </a:solidFill>
              </a:rPr>
              <a:t>Structures</a:t>
            </a:r>
            <a:r>
              <a:rPr sz="1600" spc="-2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fondamentales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5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2" name="object 12"/>
          <p:cNvSpPr txBox="1"/>
          <p:nvPr/>
        </p:nvSpPr>
        <p:spPr>
          <a:xfrm>
            <a:off x="798982" y="1599692"/>
            <a:ext cx="3350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Fonctions</a:t>
            </a:r>
            <a:r>
              <a:rPr sz="1600" b="1" spc="-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et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operations</a:t>
            </a:r>
            <a:r>
              <a:rPr sz="16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sur</a:t>
            </a:r>
            <a:r>
              <a:rPr sz="1600" b="1" spc="-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les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vecteurs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75246" y="1950318"/>
            <a:ext cx="2371090" cy="72580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Modification</a:t>
            </a:r>
            <a:r>
              <a:rPr sz="16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d'un</a:t>
            </a:r>
            <a:r>
              <a:rPr sz="16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libri"/>
                <a:cs typeface="Calibri"/>
              </a:rPr>
              <a:t>Élément</a:t>
            </a:r>
            <a:r>
              <a:rPr sz="16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villes[1]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"Kenitra"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75246" y="2956700"/>
            <a:ext cx="4487545" cy="72517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b="1" spc="-10" dirty="0">
                <a:solidFill>
                  <a:srgbClr val="006FC0"/>
                </a:solidFill>
                <a:latin typeface="Calibri"/>
                <a:cs typeface="Calibri"/>
              </a:rPr>
              <a:t>Génération</a:t>
            </a:r>
            <a:r>
              <a:rPr sz="16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16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006FC0"/>
                </a:solidFill>
                <a:latin typeface="Calibri"/>
                <a:cs typeface="Calibri"/>
              </a:rPr>
              <a:t>Vecteurs</a:t>
            </a:r>
            <a:r>
              <a:rPr sz="16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Séquencés</a:t>
            </a:r>
            <a:r>
              <a:rPr sz="16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nombres_seq_personnalise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seq(from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0,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to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100,</a:t>
            </a:r>
            <a:r>
              <a:rPr sz="1400" spc="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by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20)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75246" y="3962794"/>
            <a:ext cx="4650105" cy="1685289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b="1" spc="-10" dirty="0">
                <a:solidFill>
                  <a:srgbClr val="006FC0"/>
                </a:solidFill>
                <a:latin typeface="Calibri"/>
                <a:cs typeface="Calibri"/>
              </a:rPr>
              <a:t>Répétition</a:t>
            </a:r>
            <a:r>
              <a:rPr sz="16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libri"/>
                <a:cs typeface="Calibri"/>
              </a:rPr>
              <a:t>des</a:t>
            </a:r>
            <a:r>
              <a:rPr sz="16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006FC0"/>
                </a:solidFill>
                <a:latin typeface="Calibri"/>
                <a:cs typeface="Calibri"/>
              </a:rPr>
              <a:t>Vecteurs</a:t>
            </a:r>
            <a:r>
              <a:rPr sz="16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400" spc="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Répétez</a:t>
            </a:r>
            <a:r>
              <a:rPr sz="14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les</a:t>
            </a:r>
            <a:r>
              <a:rPr sz="140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valeurs</a:t>
            </a:r>
            <a:r>
              <a:rPr sz="14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de</a:t>
            </a:r>
            <a:r>
              <a:rPr sz="140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différentes</a:t>
            </a:r>
            <a:r>
              <a:rPr sz="14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8000"/>
                </a:solidFill>
                <a:latin typeface="Consolas"/>
                <a:cs typeface="Consolas"/>
              </a:rPr>
              <a:t>manières</a:t>
            </a:r>
            <a:r>
              <a:rPr sz="1400" spc="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400" spc="-50" dirty="0">
                <a:solidFill>
                  <a:srgbClr val="008000"/>
                </a:solidFill>
                <a:latin typeface="Consolas"/>
                <a:cs typeface="Consolas"/>
              </a:rPr>
              <a:t>: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repeter_chaque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rep(c(1,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2,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3),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each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3)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repeter_n_fois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rep(c(1,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2,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3),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times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3)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repeter_independant</a:t>
            </a:r>
            <a:r>
              <a:rPr sz="1400" spc="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rep(c(1,</a:t>
            </a:r>
            <a:r>
              <a:rPr sz="14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2,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3),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times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c(5,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2,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1))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-12700" y="-88900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9D9E2"/>
                </a:solidFill>
                <a:latin typeface="Calibri"/>
                <a:cs typeface="Calibri"/>
              </a:rPr>
              <a:t>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8982" y="5783681"/>
            <a:ext cx="9790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Autres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fonctions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opérations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sur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vecteurs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peuvent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être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trouvées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section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suivante,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'Premières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manipulations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données en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7" y="0"/>
            <a:ext cx="6490335" cy="6858000"/>
            <a:chOff x="2467" y="0"/>
            <a:chExt cx="64903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7" y="0"/>
              <a:ext cx="649003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442" y="195745"/>
              <a:ext cx="1027201" cy="101481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16900" y="561212"/>
            <a:ext cx="1747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13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337552" y="1103503"/>
            <a:ext cx="3505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VULGARISER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</a:t>
            </a:r>
            <a:r>
              <a:rPr sz="24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LANGAGE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9590" y="2462529"/>
            <a:ext cx="4838065" cy="3302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Introduction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à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et</a:t>
            </a:r>
            <a:r>
              <a:rPr sz="16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son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rôle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statistique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Préparation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l’environnement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Syntaxe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base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et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principaux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opérateurs</a:t>
            </a:r>
            <a:r>
              <a:rPr sz="16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Structures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4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données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fondamentales</a:t>
            </a:r>
            <a:r>
              <a:rPr sz="1600" spc="-4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Premières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manipulations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données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Comparaison</a:t>
            </a:r>
            <a:r>
              <a:rPr sz="1600" spc="-4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des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fonctions</a:t>
            </a:r>
            <a:r>
              <a:rPr sz="1600" spc="-4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base</a:t>
            </a:r>
            <a:r>
              <a:rPr sz="1600" spc="-4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avec</a:t>
            </a:r>
            <a:r>
              <a:rPr sz="1600" spc="-4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Reprise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des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dernières</a:t>
            </a:r>
            <a:r>
              <a:rPr sz="16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applications</a:t>
            </a:r>
            <a:r>
              <a:rPr sz="1600" spc="-6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(Python/Excel)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063356" y="345681"/>
            <a:ext cx="3592195" cy="4991100"/>
            <a:chOff x="8063356" y="345681"/>
            <a:chExt cx="3592195" cy="49911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7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3356" y="1974341"/>
              <a:ext cx="3089275" cy="3362071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98982" y="1599692"/>
            <a:ext cx="6573520" cy="327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Manipulation</a:t>
            </a:r>
            <a:r>
              <a:rPr sz="1600" b="1" spc="-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texte</a:t>
            </a:r>
            <a:endParaRPr sz="1600">
              <a:latin typeface="Calibri"/>
              <a:cs typeface="Calibri"/>
            </a:endParaRPr>
          </a:p>
          <a:p>
            <a:pPr marL="299085" marR="5080" indent="-287020" algn="just">
              <a:lnSpc>
                <a:spcPct val="200000"/>
              </a:lnSpc>
              <a:spcBef>
                <a:spcPts val="655"/>
              </a:spcBef>
              <a:buFont typeface="Arial"/>
              <a:buChar char="•"/>
              <a:tabLst>
                <a:tab pos="29972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manipulation</a:t>
            </a:r>
            <a:r>
              <a:rPr sz="16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texte</a:t>
            </a:r>
            <a:r>
              <a:rPr sz="16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1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r>
              <a:rPr sz="16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600" spc="11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6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10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chaînes</a:t>
            </a:r>
            <a:r>
              <a:rPr sz="1600" spc="10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10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caractères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permet</a:t>
            </a:r>
            <a:r>
              <a:rPr sz="1600" spc="4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6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traiter</a:t>
            </a:r>
            <a:r>
              <a:rPr sz="1600" spc="49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600" spc="7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48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caractères,</a:t>
            </a:r>
            <a:r>
              <a:rPr sz="1600" spc="48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incluant</a:t>
            </a:r>
            <a:r>
              <a:rPr sz="1600" spc="4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600" spc="49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opérations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comme</a:t>
            </a:r>
            <a:r>
              <a:rPr sz="16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sz="16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comptage,</a:t>
            </a:r>
            <a:r>
              <a:rPr sz="16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l'extraction,</a:t>
            </a:r>
            <a:r>
              <a:rPr sz="16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concaténation,</a:t>
            </a:r>
            <a:r>
              <a:rPr sz="16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le changement</a:t>
            </a:r>
            <a:r>
              <a:rPr sz="16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555555"/>
                </a:solidFill>
                <a:latin typeface="Calibri"/>
                <a:cs typeface="Calibri"/>
              </a:rPr>
              <a:t>cas,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555555"/>
                </a:solidFill>
                <a:latin typeface="Calibri"/>
                <a:cs typeface="Calibri"/>
              </a:rPr>
              <a:t>recherche</a:t>
            </a:r>
            <a:r>
              <a:rPr sz="16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motifs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etc.</a:t>
            </a:r>
            <a:endParaRPr sz="1600">
              <a:latin typeface="Calibri"/>
              <a:cs typeface="Calibri"/>
            </a:endParaRPr>
          </a:p>
          <a:p>
            <a:pPr marL="299085" marR="5715" indent="-287020" algn="just">
              <a:lnSpc>
                <a:spcPct val="200000"/>
              </a:lnSpc>
              <a:spcBef>
                <a:spcPts val="5"/>
              </a:spcBef>
              <a:buFont typeface="Arial"/>
              <a:buChar char="•"/>
              <a:tabLst>
                <a:tab pos="29972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Ces</a:t>
            </a:r>
            <a:r>
              <a:rPr sz="16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6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offrent</a:t>
            </a:r>
            <a:r>
              <a:rPr sz="1600" spc="4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6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flexibilité</a:t>
            </a:r>
            <a:r>
              <a:rPr sz="16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précieuse</a:t>
            </a:r>
            <a:r>
              <a:rPr sz="16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600" spc="4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travailler</a:t>
            </a:r>
            <a:r>
              <a:rPr sz="16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600" spc="4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les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chaînes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caractères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1599692"/>
            <a:ext cx="2940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Fonctions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chaînes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caractères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522857" y="2085339"/>
          <a:ext cx="9128758" cy="4363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4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Fonction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Exemple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d'Utilisation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Sortie</a:t>
                      </a:r>
                      <a:r>
                        <a:rPr sz="10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Attendue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nchar()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Nombre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caractères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dans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chaîne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chaine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"Bonjour";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nchar(chaine)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substr()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Extraire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une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sous-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chaîne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caractères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texte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0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"Exemple";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substr(texte,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 1,</a:t>
                      </a:r>
                      <a:r>
                        <a:rPr sz="10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4)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"Exem"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paste()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Concaténer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chaînes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caractères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nom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&lt;- "Alice"; age &lt;-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25;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paste(nom,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age)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"Alice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25"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toupper()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Convertir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chaîne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majuscules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texte &lt;-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"bonjour";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toupper(texte)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"BONJOUR"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tolower()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Convertir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chaîne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minuscules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texte &lt;-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"Bonjour";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tolower(texte)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"bonjour"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paste0()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Concaténer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sans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espace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nom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&lt;- "John";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age &lt;- 30;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paste0(nom,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age)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"John30"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strsplit()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Diviser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chaîne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éléments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d'un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vecteur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phrase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&lt;- "Bonjour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à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tous";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strsplit(phrase,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"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")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list("Bonjour",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"à",</a:t>
                      </a:r>
                      <a:r>
                        <a:rPr sz="10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"tous")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gsub()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Remplacer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occurrences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dans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chaîne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chaine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"excellent";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gsub("e",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"E",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chaine)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"ExcellEnt"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grep()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Rechercher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motifs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dans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chaîne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chaine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c("chat",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"chien",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"oiseau");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grep("ch",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chaine)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c(1,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2)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sub()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Remplacer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première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occurrence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dans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chaîne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chaine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"excellent";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sub("e",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"E",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chaine)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"Excellent"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sprintf()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Formatage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chaînes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caractères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nom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&lt;- "Alice";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age &lt;- 25;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sprintf("Nom: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%s, Age: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%d", nom,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age)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"Nom: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Alice,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Age: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25"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98982" y="1964029"/>
            <a:ext cx="4372610" cy="66611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1.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Extraction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Sous-chaînes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Exemple</a:t>
            </a:r>
            <a:r>
              <a:rPr sz="14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r>
              <a:rPr sz="14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Extraire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trois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premiers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caractères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d'une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chaîne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1" name="object 11"/>
          <p:cNvSpPr txBox="1"/>
          <p:nvPr/>
        </p:nvSpPr>
        <p:spPr>
          <a:xfrm>
            <a:off x="798982" y="1599692"/>
            <a:ext cx="343725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Applications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 en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 manipulation</a:t>
            </a:r>
            <a:r>
              <a:rPr sz="1600" b="1" spc="-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chaînes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5073" y="2769844"/>
            <a:ext cx="4077970" cy="764540"/>
          </a:xfrm>
          <a:prstGeom prst="rect">
            <a:avLst/>
          </a:prstGeom>
          <a:solidFill>
            <a:srgbClr val="E1EFD9"/>
          </a:solidFill>
          <a:ln w="9525">
            <a:solidFill>
              <a:srgbClr val="A9D18E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1185545">
              <a:lnSpc>
                <a:spcPct val="106100"/>
              </a:lnSpc>
              <a:spcBef>
                <a:spcPts val="17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chaine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"Analyse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Données"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sous_chaine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substr(chaine,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1,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3)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cat("Sous-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chaîne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:",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sous_chaine,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"\n")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20205" y="2755874"/>
            <a:ext cx="4077970" cy="764540"/>
          </a:xfrm>
          <a:prstGeom prst="rect">
            <a:avLst/>
          </a:prstGeom>
          <a:solidFill>
            <a:srgbClr val="E1EFD9"/>
          </a:solidFill>
          <a:ln w="9525">
            <a:solidFill>
              <a:srgbClr val="A9D18E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2075" marR="945515">
              <a:lnSpc>
                <a:spcPct val="106200"/>
              </a:lnSpc>
              <a:spcBef>
                <a:spcPts val="16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texte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"analyse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données"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texte_majuscule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6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toupper(texte)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cat("Majuscules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:",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texte_majuscule,</a:t>
            </a:r>
            <a:r>
              <a:rPr sz="1400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"\n")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5060" y="4960264"/>
            <a:ext cx="4077970" cy="764540"/>
          </a:xfrm>
          <a:prstGeom prst="rect">
            <a:avLst/>
          </a:prstGeom>
          <a:solidFill>
            <a:srgbClr val="E1EFD9"/>
          </a:solidFill>
          <a:ln w="9525">
            <a:solidFill>
              <a:srgbClr val="A9D18E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prenom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"John";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"Doe"</a:t>
            </a:r>
            <a:endParaRPr sz="1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nom_complet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paste(prenom,</a:t>
            </a:r>
            <a:r>
              <a:rPr sz="140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nom,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sep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"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")</a:t>
            </a:r>
            <a:endParaRPr sz="1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cat("Nom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Complet :",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nom_complet,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"\n")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20205" y="4960264"/>
            <a:ext cx="4077970" cy="764540"/>
          </a:xfrm>
          <a:prstGeom prst="rect">
            <a:avLst/>
          </a:prstGeom>
          <a:solidFill>
            <a:srgbClr val="E1EFD9"/>
          </a:solidFill>
          <a:ln w="9525">
            <a:solidFill>
              <a:srgbClr val="A9D18E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2075" marR="132715">
              <a:lnSpc>
                <a:spcPct val="106400"/>
              </a:lnSpc>
              <a:spcBef>
                <a:spcPts val="16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texte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"R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langage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l'analyse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données"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motifs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grep("R",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strsplit(texte,</a:t>
            </a:r>
            <a:r>
              <a:rPr sz="1400" spc="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"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"))</a:t>
            </a:r>
            <a:endParaRPr sz="14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cat("Occurrences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'R'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:",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motifs,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"\n")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8982" y="4075023"/>
            <a:ext cx="4980305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2.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Concaténation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Chaînes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Exemple</a:t>
            </a:r>
            <a:r>
              <a:rPr sz="14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r>
              <a:rPr sz="1400" b="1" spc="-3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Concaténer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prénom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nom</a:t>
            </a:r>
            <a:r>
              <a:rPr sz="14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avec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espace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entre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eux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05525" y="1964029"/>
            <a:ext cx="3350260" cy="66611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3.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Modification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Casse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Exemple</a:t>
            </a:r>
            <a:r>
              <a:rPr sz="14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Convertir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chaîne en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majuscules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05525" y="4047845"/>
            <a:ext cx="4784725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4.</a:t>
            </a:r>
            <a:r>
              <a:rPr sz="14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Recherche: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Exemple</a:t>
            </a:r>
            <a:r>
              <a:rPr sz="14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Compter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toutes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occurrences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"R"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chaîne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20205" y="5857201"/>
            <a:ext cx="4077970" cy="382270"/>
          </a:xfrm>
          <a:prstGeom prst="rect">
            <a:avLst/>
          </a:prstGeom>
          <a:solidFill>
            <a:srgbClr val="FFF1CC"/>
          </a:solidFill>
          <a:ln w="9525">
            <a:solidFill>
              <a:srgbClr val="FFD966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865"/>
              </a:spcBef>
            </a:pPr>
            <a:r>
              <a:rPr sz="1400" b="1" dirty="0">
                <a:latin typeface="Calibri"/>
                <a:cs typeface="Calibri"/>
              </a:rPr>
              <a:t>Sortie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Attendue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: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Occurrences</a:t>
            </a:r>
            <a:r>
              <a:rPr sz="1400" spc="-10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'R’</a:t>
            </a:r>
            <a:r>
              <a:rPr sz="1400" spc="-25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:</a:t>
            </a:r>
            <a:r>
              <a:rPr sz="1400" spc="-20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00A67C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5073" y="5857201"/>
            <a:ext cx="4077970" cy="382270"/>
          </a:xfrm>
          <a:prstGeom prst="rect">
            <a:avLst/>
          </a:prstGeom>
          <a:solidFill>
            <a:srgbClr val="FFF1CC"/>
          </a:solidFill>
          <a:ln w="9525">
            <a:solidFill>
              <a:srgbClr val="FFD966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65"/>
              </a:spcBef>
            </a:pPr>
            <a:r>
              <a:rPr sz="1400" b="1" dirty="0">
                <a:latin typeface="Calibri"/>
                <a:cs typeface="Calibri"/>
              </a:rPr>
              <a:t>Sortie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Attendue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: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Nom</a:t>
            </a:r>
            <a:r>
              <a:rPr sz="1400" spc="-45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Complet</a:t>
            </a:r>
            <a:r>
              <a:rPr sz="1400" spc="15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:</a:t>
            </a:r>
            <a:r>
              <a:rPr sz="1400" spc="-15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John</a:t>
            </a:r>
            <a:r>
              <a:rPr sz="1400" spc="-10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0A67C"/>
                </a:solidFill>
                <a:latin typeface="Calibri"/>
                <a:cs typeface="Calibri"/>
              </a:rPr>
              <a:t>Doe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5060" y="3640378"/>
            <a:ext cx="4077970" cy="382270"/>
          </a:xfrm>
          <a:prstGeom prst="rect">
            <a:avLst/>
          </a:prstGeom>
          <a:solidFill>
            <a:srgbClr val="FFF1CC"/>
          </a:solidFill>
          <a:ln w="9525">
            <a:solidFill>
              <a:srgbClr val="FFD966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60"/>
              </a:spcBef>
            </a:pPr>
            <a:r>
              <a:rPr sz="1400" b="1" dirty="0">
                <a:latin typeface="Calibri"/>
                <a:cs typeface="Calibri"/>
              </a:rPr>
              <a:t>Sortie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Attendue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: </a:t>
            </a:r>
            <a:r>
              <a:rPr sz="1400" spc="-10" dirty="0">
                <a:solidFill>
                  <a:srgbClr val="00A67C"/>
                </a:solidFill>
                <a:latin typeface="Calibri"/>
                <a:cs typeface="Calibri"/>
              </a:rPr>
              <a:t>Sous-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chaîne :</a:t>
            </a:r>
            <a:r>
              <a:rPr sz="1400" spc="-5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0A67C"/>
                </a:solidFill>
                <a:latin typeface="Calibri"/>
                <a:cs typeface="Calibri"/>
              </a:rPr>
              <a:t>Ana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20205" y="3651808"/>
            <a:ext cx="4077970" cy="382270"/>
          </a:xfrm>
          <a:prstGeom prst="rect">
            <a:avLst/>
          </a:prstGeom>
          <a:solidFill>
            <a:srgbClr val="FFF1CC"/>
          </a:solidFill>
          <a:ln w="9525">
            <a:solidFill>
              <a:srgbClr val="FFD966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860"/>
              </a:spcBef>
            </a:pPr>
            <a:r>
              <a:rPr sz="1400" b="1" dirty="0">
                <a:latin typeface="Calibri"/>
                <a:cs typeface="Calibri"/>
              </a:rPr>
              <a:t>Sortie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Attendue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: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Majuscules :</a:t>
            </a:r>
            <a:r>
              <a:rPr sz="1400" spc="-10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0A67C"/>
                </a:solidFill>
                <a:latin typeface="Calibri"/>
                <a:cs typeface="Calibri"/>
              </a:rPr>
              <a:t>ANALYSE</a:t>
            </a:r>
            <a:r>
              <a:rPr sz="1400" spc="-30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00A67C"/>
                </a:solidFill>
                <a:latin typeface="Calibri"/>
                <a:cs typeface="Calibri"/>
              </a:rPr>
              <a:t> DONNÉES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914247" y="4202633"/>
            <a:ext cx="4932680" cy="307975"/>
          </a:xfrm>
          <a:prstGeom prst="rect">
            <a:avLst/>
          </a:prstGeom>
          <a:solidFill>
            <a:srgbClr val="E1EFD9"/>
          </a:solidFill>
          <a:ln w="9525">
            <a:solidFill>
              <a:srgbClr val="A9D18E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filtre_conditionnel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villes[villes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==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"Tanger"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|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villes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==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"Rabat"]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17770" y="3542791"/>
            <a:ext cx="749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filtrer</a:t>
            </a:r>
            <a:r>
              <a:rPr sz="1400" spc="12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982" y="3116681"/>
            <a:ext cx="4126865" cy="98551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1.</a:t>
            </a:r>
            <a:r>
              <a:rPr sz="1400" b="1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Filtrer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le 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Vecteur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</a:pP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Exemple</a:t>
            </a:r>
            <a:r>
              <a:rPr sz="1400" b="1" spc="120" dirty="0">
                <a:solidFill>
                  <a:srgbClr val="FF7800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r>
              <a:rPr sz="1400" b="1" spc="130" dirty="0">
                <a:solidFill>
                  <a:srgbClr val="FF780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Utilisation</a:t>
            </a:r>
            <a:r>
              <a:rPr sz="1400" spc="13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12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techniques</a:t>
            </a:r>
            <a:r>
              <a:rPr sz="1400" spc="12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avancées</a:t>
            </a:r>
            <a:r>
              <a:rPr sz="1400" spc="13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pour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éléments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d'un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vecteur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72961" y="3201136"/>
            <a:ext cx="2971165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3.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Trier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Vecteur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::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Exemple</a:t>
            </a:r>
            <a:r>
              <a:rPr sz="1400" b="1" spc="-4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r>
              <a:rPr sz="1400" b="1" spc="-2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Trie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éléments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d'un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vecteur.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19444" y="4202633"/>
            <a:ext cx="4932680" cy="307975"/>
          </a:xfrm>
          <a:prstGeom prst="rect">
            <a:avLst/>
          </a:prstGeom>
          <a:solidFill>
            <a:srgbClr val="E1EFD9"/>
          </a:solidFill>
          <a:ln w="9525">
            <a:solidFill>
              <a:srgbClr val="A9D18E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villes_tries &lt;-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sort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(villes)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982" y="1599692"/>
            <a:ext cx="10401300" cy="1216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Applications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 en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 manipulation</a:t>
            </a:r>
            <a:r>
              <a:rPr sz="1600" b="1" spc="-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vecteurs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manipulation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vecteurs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offre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éventail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d'opérations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traiter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efficacement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données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vectorielles.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opérations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incluent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400" b="1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tri,</a:t>
            </a:r>
            <a:r>
              <a:rPr sz="1400" b="1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b="1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74151"/>
                </a:solidFill>
                <a:latin typeface="Calibri"/>
                <a:cs typeface="Calibri"/>
              </a:rPr>
              <a:t>recherche</a:t>
            </a:r>
            <a:r>
              <a:rPr sz="1400" b="1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d'éléments</a:t>
            </a:r>
            <a:r>
              <a:rPr sz="1400" b="1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uniques,</a:t>
            </a:r>
            <a:r>
              <a:rPr sz="1400" b="1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b="1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répétition,</a:t>
            </a:r>
            <a:r>
              <a:rPr sz="1400" b="1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b="1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modification</a:t>
            </a:r>
            <a:r>
              <a:rPr sz="1400" b="1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sélective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,</a:t>
            </a:r>
            <a:r>
              <a:rPr sz="14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bien plus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encore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247" y="5612434"/>
            <a:ext cx="4932680" cy="307975"/>
          </a:xfrm>
          <a:prstGeom prst="rect">
            <a:avLst/>
          </a:prstGeom>
          <a:solidFill>
            <a:srgbClr val="E1EFD9"/>
          </a:solidFill>
          <a:ln w="9525">
            <a:solidFill>
              <a:srgbClr val="A9D18E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villes_inverses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rev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(fruits)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8982" y="4833340"/>
            <a:ext cx="3853815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2.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Reverser</a:t>
            </a:r>
            <a:r>
              <a:rPr sz="14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Vecteur</a:t>
            </a:r>
            <a:r>
              <a:rPr sz="14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Exemple</a:t>
            </a:r>
            <a:r>
              <a:rPr sz="14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Inverser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l'ordre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éléments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d'un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vecteur.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04635" y="4839032"/>
            <a:ext cx="409194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4.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Éléments</a:t>
            </a:r>
            <a:r>
              <a:rPr sz="14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Uniques</a:t>
            </a:r>
            <a:r>
              <a:rPr sz="14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Exemple</a:t>
            </a:r>
            <a:r>
              <a:rPr sz="1400" b="1" spc="-5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Trouver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éléments uniques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vecteur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19444" y="5612434"/>
            <a:ext cx="4932680" cy="307975"/>
          </a:xfrm>
          <a:prstGeom prst="rect">
            <a:avLst/>
          </a:prstGeom>
          <a:solidFill>
            <a:srgbClr val="E1EFD9"/>
          </a:solidFill>
          <a:ln w="9525">
            <a:solidFill>
              <a:srgbClr val="A9D18E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elements_uniques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unique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(vecteur)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98982" y="1963267"/>
            <a:ext cx="374396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5.</a:t>
            </a:r>
            <a:r>
              <a:rPr sz="1400" b="1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Opérations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Arithmétiques</a:t>
            </a:r>
            <a:r>
              <a:rPr sz="14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solidFill>
                  <a:srgbClr val="FF7800"/>
                </a:solidFill>
                <a:latin typeface="Calibri"/>
                <a:cs typeface="Calibri"/>
              </a:rPr>
              <a:t>Exemple</a:t>
            </a:r>
            <a:r>
              <a:rPr sz="1400" b="1" spc="-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r>
              <a:rPr sz="14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Opérations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arithmétiques</a:t>
            </a:r>
            <a:r>
              <a:rPr sz="1400" spc="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sur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vecteur.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1" name="object 11"/>
          <p:cNvSpPr txBox="1"/>
          <p:nvPr/>
        </p:nvSpPr>
        <p:spPr>
          <a:xfrm>
            <a:off x="798982" y="1599692"/>
            <a:ext cx="35109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Applications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 en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 manipulation</a:t>
            </a:r>
            <a:r>
              <a:rPr sz="1600" b="1" spc="-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vecteurs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5060" y="2768701"/>
            <a:ext cx="4932045" cy="764540"/>
          </a:xfrm>
          <a:prstGeom prst="rect">
            <a:avLst/>
          </a:prstGeom>
          <a:solidFill>
            <a:srgbClr val="E1EFD9"/>
          </a:solidFill>
          <a:ln w="9525">
            <a:solidFill>
              <a:srgbClr val="A9D18E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2950845">
              <a:lnSpc>
                <a:spcPct val="106100"/>
              </a:lnSpc>
              <a:spcBef>
                <a:spcPts val="17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somme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sum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(nombres)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max_val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max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(nombres)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min_val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min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(nombres)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5525" y="1963267"/>
            <a:ext cx="4654550" cy="98551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6.</a:t>
            </a:r>
            <a:r>
              <a:rPr sz="1400" b="1" spc="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Statistiques</a:t>
            </a:r>
            <a:r>
              <a:rPr sz="1400" b="1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Descriptives</a:t>
            </a:r>
            <a:r>
              <a:rPr sz="1400" b="1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</a:pP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Exemple</a:t>
            </a:r>
            <a:r>
              <a:rPr sz="1400" b="1" spc="16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r>
              <a:rPr sz="1400" b="1" spc="16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Calcul</a:t>
            </a:r>
            <a:r>
              <a:rPr sz="1400" spc="1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1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statistiques</a:t>
            </a:r>
            <a:r>
              <a:rPr sz="1400" spc="1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descriptives</a:t>
            </a:r>
            <a:r>
              <a:rPr sz="1400" spc="1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(</a:t>
            </a:r>
            <a:r>
              <a:rPr sz="1400" spc="1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400" b="1" spc="1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moyenne,</a:t>
            </a:r>
            <a:r>
              <a:rPr sz="1400" b="1" spc="1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374151"/>
                </a:solidFill>
                <a:latin typeface="Calibri"/>
                <a:cs typeface="Calibri"/>
              </a:rPr>
              <a:t>la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médiane,</a:t>
            </a:r>
            <a:r>
              <a:rPr sz="1400" b="1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74151"/>
                </a:solidFill>
                <a:latin typeface="Calibri"/>
                <a:cs typeface="Calibri"/>
              </a:rPr>
              <a:t>l'écart-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type</a:t>
            </a:r>
            <a:r>
              <a:rPr sz="1400" b="1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20205" y="3077565"/>
            <a:ext cx="4932045" cy="764540"/>
          </a:xfrm>
          <a:prstGeom prst="rect">
            <a:avLst/>
          </a:prstGeom>
          <a:solidFill>
            <a:srgbClr val="E1EFD9"/>
          </a:solidFill>
          <a:ln w="9525">
            <a:solidFill>
              <a:srgbClr val="A9D18E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2075" marR="2669540">
              <a:lnSpc>
                <a:spcPct val="106100"/>
              </a:lnSpc>
              <a:spcBef>
                <a:spcPts val="170"/>
              </a:spcBef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moyenne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mean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(nombres)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mediane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&lt;-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median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(nombres)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ecart_type &lt;-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sd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(nombres)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-12700" y="-105664"/>
            <a:ext cx="133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alibri"/>
                <a:cs typeface="Calibri"/>
              </a:rPr>
              <a:t>2.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6109" y="4377385"/>
            <a:ext cx="10400030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comprenant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différentes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fonctionnalités</a:t>
            </a:r>
            <a:r>
              <a:rPr sz="1400" spc="3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 opérations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R, qu'il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s'agisse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d'opérations arithmétiques</a:t>
            </a:r>
            <a:r>
              <a:rPr sz="1400" spc="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ou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manipulations</a:t>
            </a:r>
            <a:r>
              <a:rPr sz="1400" spc="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chaînes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374151"/>
              </a:buClr>
              <a:buFont typeface="Arial"/>
              <a:buChar char="•"/>
            </a:pPr>
            <a:endParaRPr sz="135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caractères,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nous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pouvons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combiner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exploiter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puissance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manipulation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vecteurs.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L'efficacité</a:t>
            </a:r>
            <a:r>
              <a:rPr sz="14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cette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manipulation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dépend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étroitement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du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contexte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spécifique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l'analyse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du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type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données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nous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traitons.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1636902"/>
            <a:ext cx="3435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Fonctions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manipulation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Structures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12700" y="-105664"/>
            <a:ext cx="133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alibri"/>
                <a:cs typeface="Calibri"/>
              </a:rPr>
              <a:t>2.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446402" y="2177033"/>
          <a:ext cx="9280523" cy="40779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2405">
                <a:tc>
                  <a:txBody>
                    <a:bodyPr/>
                    <a:lstStyle/>
                    <a:p>
                      <a:pPr marL="9525">
                        <a:lnSpc>
                          <a:spcPts val="141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Fonction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41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41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Listes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41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Vecteurs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41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Tableaux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41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Matrices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410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Frames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length()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Obtenir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la longueur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l'objet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str()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Afficher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structure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l'objet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c()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Combiner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objets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vecteur/liste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unlist()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Aplatir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liste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imbriquée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sapply()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Appliquer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fonction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à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chaque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élément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lapply()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Appliquer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fonction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à chaque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élément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d'une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liste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matrix()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Créer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matrice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array()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Créer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tableau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dim()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Obtenir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dimensions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l'objet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colnames()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Obtenir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ou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définir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 noms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colonnes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rownames()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Obtenir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ou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définir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noms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lignes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names()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Obtenir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ou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définir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noms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(d'éléments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liste)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apply()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Appliquer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fonction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sur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marges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colMeans()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Calculer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 moyennes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des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colonnes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rowMeans()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Calculer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 moyennes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des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lignes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summary()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Afficher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résumé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statistique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d'un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objet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View()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Ouvrir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éditeur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interactif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pour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visualiser un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objet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-12700" y="-105664"/>
            <a:ext cx="133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alibri"/>
                <a:cs typeface="Calibri"/>
              </a:rPr>
              <a:t>2.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1768" y="2872435"/>
            <a:ext cx="5122545" cy="3477895"/>
          </a:xfrm>
          <a:prstGeom prst="rect">
            <a:avLst/>
          </a:prstGeom>
          <a:solidFill>
            <a:srgbClr val="1F4E7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Création</a:t>
            </a:r>
            <a:r>
              <a:rPr sz="11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d'une</a:t>
            </a:r>
            <a:r>
              <a:rPr sz="11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matrice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de</a:t>
            </a:r>
            <a:r>
              <a:rPr sz="11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notes</a:t>
            </a:r>
            <a:r>
              <a:rPr sz="11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spc="-10" dirty="0">
                <a:solidFill>
                  <a:srgbClr val="0087FF"/>
                </a:solidFill>
                <a:latin typeface="Consolas"/>
                <a:cs typeface="Consolas"/>
              </a:rPr>
              <a:t>d'étudiants</a:t>
            </a:r>
            <a:endParaRPr sz="1100">
              <a:latin typeface="Consolas"/>
              <a:cs typeface="Consolas"/>
            </a:endParaRPr>
          </a:p>
          <a:p>
            <a:pPr marL="91440" marR="144145">
              <a:lnSpc>
                <a:spcPct val="100000"/>
              </a:lnSpc>
            </a:pPr>
            <a:r>
              <a:rPr sz="110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spc="-5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100" spc="-4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matrix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c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85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90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78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92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88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75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95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89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80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),</a:t>
            </a:r>
            <a:r>
              <a:rPr sz="11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E0EEFF"/>
                </a:solidFill>
                <a:latin typeface="Consolas"/>
                <a:cs typeface="Consolas"/>
              </a:rPr>
              <a:t>nrow</a:t>
            </a:r>
            <a:r>
              <a:rPr sz="1100" spc="-40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=</a:t>
            </a:r>
            <a:r>
              <a:rPr sz="1100" spc="-4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100" spc="-25" dirty="0">
                <a:solidFill>
                  <a:srgbClr val="FF618B"/>
                </a:solidFill>
                <a:latin typeface="Consolas"/>
                <a:cs typeface="Consolas"/>
              </a:rPr>
              <a:t>3</a:t>
            </a:r>
            <a:r>
              <a:rPr sz="1100" spc="-25" dirty="0">
                <a:solidFill>
                  <a:srgbClr val="FFFFFF"/>
                </a:solidFill>
                <a:latin typeface="Consolas"/>
                <a:cs typeface="Consolas"/>
              </a:rPr>
              <a:t>, </a:t>
            </a:r>
            <a:r>
              <a:rPr sz="1100" dirty="0">
                <a:solidFill>
                  <a:srgbClr val="E0EEFF"/>
                </a:solidFill>
                <a:latin typeface="Consolas"/>
                <a:cs typeface="Consolas"/>
              </a:rPr>
              <a:t>byrow</a:t>
            </a:r>
            <a:r>
              <a:rPr sz="1100" spc="-3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=</a:t>
            </a:r>
            <a:r>
              <a:rPr sz="1100" spc="-35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TRUE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100">
              <a:latin typeface="Consolas"/>
              <a:cs typeface="Consolas"/>
            </a:endParaRPr>
          </a:p>
          <a:p>
            <a:pPr marL="91440" marR="448945">
              <a:lnSpc>
                <a:spcPct val="100000"/>
              </a:lnSpc>
            </a:pP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colnames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r>
              <a:rPr sz="1100" spc="-8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100" spc="-75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c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Mathématiques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7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Sciences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7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Anglais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rownames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r>
              <a:rPr sz="1100" spc="-1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100" spc="-11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c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Étudiant1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114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Étudiant2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10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Étudiant3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Consolas"/>
              <a:cs typeface="Consolas"/>
            </a:endParaRPr>
          </a:p>
          <a:p>
            <a:pPr marL="91440" marR="1897380">
              <a:lnSpc>
                <a:spcPct val="100000"/>
              </a:lnSpc>
            </a:pP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Affichage</a:t>
            </a:r>
            <a:r>
              <a:rPr sz="1100" i="1" spc="-4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de</a:t>
            </a:r>
            <a:r>
              <a:rPr sz="1100" i="1" spc="-4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la</a:t>
            </a:r>
            <a:r>
              <a:rPr sz="1100" i="1" spc="-4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matrice</a:t>
            </a:r>
            <a:r>
              <a:rPr sz="1100" i="1" spc="-4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des</a:t>
            </a:r>
            <a:r>
              <a:rPr sz="1100" i="1" spc="-4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spc="-10" dirty="0">
                <a:solidFill>
                  <a:srgbClr val="0087FF"/>
                </a:solidFill>
                <a:latin typeface="Consolas"/>
                <a:cs typeface="Consolas"/>
              </a:rPr>
              <a:t>notes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Matrice</a:t>
            </a:r>
            <a:r>
              <a:rPr sz="1100" spc="-6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des</a:t>
            </a:r>
            <a:r>
              <a:rPr sz="1100" spc="-6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notes</a:t>
            </a:r>
            <a:r>
              <a:rPr sz="1100" spc="-6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des</a:t>
            </a:r>
            <a:r>
              <a:rPr sz="1100" spc="-6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étudiants: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Consolas"/>
              <a:cs typeface="Consolas"/>
            </a:endParaRPr>
          </a:p>
          <a:p>
            <a:pPr marL="91440" marR="2278380">
              <a:lnSpc>
                <a:spcPct val="100000"/>
              </a:lnSpc>
            </a:pP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100" i="1" spc="-4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Dimensions</a:t>
            </a:r>
            <a:r>
              <a:rPr sz="1100" i="1" spc="-4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de</a:t>
            </a:r>
            <a:r>
              <a:rPr sz="1100" i="1" spc="-4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la</a:t>
            </a:r>
            <a:r>
              <a:rPr sz="1100" i="1" spc="-4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spc="-10" dirty="0">
                <a:solidFill>
                  <a:srgbClr val="0087FF"/>
                </a:solidFill>
                <a:latin typeface="Consolas"/>
                <a:cs typeface="Consolas"/>
              </a:rPr>
              <a:t>matrice </a:t>
            </a:r>
            <a:r>
              <a:rPr sz="1100" dirty="0">
                <a:solidFill>
                  <a:srgbClr val="E0EEFF"/>
                </a:solidFill>
                <a:latin typeface="Consolas"/>
                <a:cs typeface="Consolas"/>
              </a:rPr>
              <a:t>dimensions</a:t>
            </a:r>
            <a:r>
              <a:rPr sz="1100" spc="-6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100" spc="-65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dim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Dimensions</a:t>
            </a:r>
            <a:r>
              <a:rPr sz="1100" spc="-1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de</a:t>
            </a:r>
            <a:r>
              <a:rPr sz="1100" spc="-2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la</a:t>
            </a:r>
            <a:r>
              <a:rPr sz="1100" spc="-1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matrice: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dimensions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Consolas"/>
              <a:cs typeface="Consolas"/>
            </a:endParaRPr>
          </a:p>
          <a:p>
            <a:pPr marL="91440" marR="2507615">
              <a:lnSpc>
                <a:spcPct val="100000"/>
              </a:lnSpc>
            </a:pP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100" i="1" spc="-4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Noms</a:t>
            </a:r>
            <a:r>
              <a:rPr sz="1100" i="1" spc="-4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des</a:t>
            </a:r>
            <a:r>
              <a:rPr sz="1100" i="1" spc="-4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colonnes</a:t>
            </a:r>
            <a:r>
              <a:rPr sz="1100" i="1" spc="-4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et</a:t>
            </a:r>
            <a:r>
              <a:rPr sz="1100" i="1" spc="-4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des</a:t>
            </a:r>
            <a:r>
              <a:rPr sz="1100" i="1" spc="-4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spc="-10" dirty="0">
                <a:solidFill>
                  <a:srgbClr val="0087FF"/>
                </a:solidFill>
                <a:latin typeface="Consolas"/>
                <a:cs typeface="Consolas"/>
              </a:rPr>
              <a:t>lignes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Noms</a:t>
            </a:r>
            <a:r>
              <a:rPr sz="1100" spc="-7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des</a:t>
            </a:r>
            <a:r>
              <a:rPr sz="1100" spc="-7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matières: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colnames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))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Noms</a:t>
            </a:r>
            <a:r>
              <a:rPr sz="1100" spc="-7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des</a:t>
            </a:r>
            <a:r>
              <a:rPr sz="1100" spc="-7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étudiants: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rownames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))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8283" y="2687764"/>
            <a:ext cx="5122545" cy="3647440"/>
          </a:xfrm>
          <a:prstGeom prst="rect">
            <a:avLst/>
          </a:prstGeom>
          <a:solidFill>
            <a:srgbClr val="1F4E7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100" i="1" spc="-4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Longueur</a:t>
            </a:r>
            <a:r>
              <a:rPr sz="1100" i="1" spc="-3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de</a:t>
            </a:r>
            <a:r>
              <a:rPr sz="1100" i="1" spc="-4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la</a:t>
            </a:r>
            <a:r>
              <a:rPr sz="1100" i="1" spc="-3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spc="-10" dirty="0">
                <a:solidFill>
                  <a:srgbClr val="0087FF"/>
                </a:solidFill>
                <a:latin typeface="Consolas"/>
                <a:cs typeface="Consolas"/>
              </a:rPr>
              <a:t>matrice</a:t>
            </a:r>
            <a:endParaRPr sz="11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longueur_matrice</a:t>
            </a:r>
            <a:r>
              <a:rPr sz="1100" spc="-1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100" spc="-15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length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100">
              <a:latin typeface="Consolas"/>
              <a:cs typeface="Consolas"/>
            </a:endParaRPr>
          </a:p>
          <a:p>
            <a:pPr marL="92075" marR="1134745">
              <a:lnSpc>
                <a:spcPct val="100000"/>
              </a:lnSpc>
            </a:pP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Nombre</a:t>
            </a:r>
            <a:r>
              <a:rPr sz="1100" spc="-8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total</a:t>
            </a:r>
            <a:r>
              <a:rPr sz="1100" spc="-7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d'éléments</a:t>
            </a:r>
            <a:r>
              <a:rPr sz="1100" spc="-7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dans</a:t>
            </a:r>
            <a:r>
              <a:rPr sz="1100" spc="-7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la</a:t>
            </a:r>
            <a:r>
              <a:rPr sz="1100" spc="-7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matrice: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longueur_matrice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Utilisation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de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sapply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pour</a:t>
            </a:r>
            <a:r>
              <a:rPr sz="11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calculer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la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moyenne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par</a:t>
            </a:r>
            <a:r>
              <a:rPr sz="11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spc="-10" dirty="0">
                <a:solidFill>
                  <a:srgbClr val="0087FF"/>
                </a:solidFill>
                <a:latin typeface="Consolas"/>
                <a:cs typeface="Consolas"/>
              </a:rPr>
              <a:t>matière</a:t>
            </a:r>
            <a:endParaRPr sz="1100">
              <a:latin typeface="Consolas"/>
              <a:cs typeface="Consolas"/>
            </a:endParaRPr>
          </a:p>
          <a:p>
            <a:pPr marL="92075" marR="1972945">
              <a:lnSpc>
                <a:spcPct val="100000"/>
              </a:lnSpc>
            </a:pP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moyennes_matieres</a:t>
            </a:r>
            <a:r>
              <a:rPr sz="1100" spc="-6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100" spc="-55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sapply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5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mean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Moyennes</a:t>
            </a:r>
            <a:r>
              <a:rPr sz="1100" spc="-3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par</a:t>
            </a:r>
            <a:r>
              <a:rPr sz="1100" spc="-2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matière: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moyennes_matieres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Consolas"/>
              <a:cs typeface="Consolas"/>
            </a:endParaRPr>
          </a:p>
          <a:p>
            <a:pPr marL="92075" marR="296545">
              <a:lnSpc>
                <a:spcPct val="100000"/>
              </a:lnSpc>
            </a:pP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100" i="1" spc="-6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Utilisation</a:t>
            </a:r>
            <a:r>
              <a:rPr sz="1100" i="1" spc="-6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de</a:t>
            </a:r>
            <a:r>
              <a:rPr sz="1100" i="1" spc="-6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lapply</a:t>
            </a:r>
            <a:r>
              <a:rPr sz="1100" i="1" spc="-6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pour</a:t>
            </a:r>
            <a:r>
              <a:rPr sz="1100" i="1" spc="-6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obtenir</a:t>
            </a:r>
            <a:r>
              <a:rPr sz="1100" i="1" spc="-6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le</a:t>
            </a:r>
            <a:r>
              <a:rPr sz="1100" i="1" spc="-6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résumé</a:t>
            </a:r>
            <a:r>
              <a:rPr sz="1100" i="1" spc="-6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statistique</a:t>
            </a:r>
            <a:r>
              <a:rPr sz="1100" i="1" spc="-6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spc="-25" dirty="0">
                <a:solidFill>
                  <a:srgbClr val="0087FF"/>
                </a:solidFill>
                <a:latin typeface="Consolas"/>
                <a:cs typeface="Consolas"/>
              </a:rPr>
              <a:t>par </a:t>
            </a:r>
            <a:r>
              <a:rPr sz="1100" i="1" spc="-10" dirty="0">
                <a:solidFill>
                  <a:srgbClr val="0087FF"/>
                </a:solidFill>
                <a:latin typeface="Consolas"/>
                <a:cs typeface="Consolas"/>
              </a:rPr>
              <a:t>étudiant</a:t>
            </a:r>
            <a:endParaRPr sz="11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resume_etudiants</a:t>
            </a:r>
            <a:r>
              <a:rPr sz="1100" spc="-20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 lapply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1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:nrow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),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function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(x)</a:t>
            </a:r>
            <a:endParaRPr sz="11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summary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notes[x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spc="-25" dirty="0">
                <a:solidFill>
                  <a:srgbClr val="E0EEFF"/>
                </a:solidFill>
                <a:latin typeface="Consolas"/>
                <a:cs typeface="Consolas"/>
              </a:rPr>
              <a:t>]</a:t>
            </a:r>
            <a:r>
              <a:rPr sz="1100" spc="-25" dirty="0">
                <a:solidFill>
                  <a:srgbClr val="FFFFFF"/>
                </a:solidFill>
                <a:latin typeface="Consolas"/>
                <a:cs typeface="Consolas"/>
              </a:rPr>
              <a:t>))</a:t>
            </a:r>
            <a:endParaRPr sz="1100">
              <a:latin typeface="Consolas"/>
              <a:cs typeface="Consolas"/>
            </a:endParaRPr>
          </a:p>
          <a:p>
            <a:pPr marL="92075" marR="174434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Résumé</a:t>
            </a:r>
            <a:r>
              <a:rPr sz="1100" spc="-10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statistique</a:t>
            </a:r>
            <a:r>
              <a:rPr sz="1100" spc="-9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par</a:t>
            </a:r>
            <a:r>
              <a:rPr sz="1100" spc="-9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étudiant: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resume_etudiants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Utilisation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de</a:t>
            </a:r>
            <a:r>
              <a:rPr sz="11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apply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pour</a:t>
            </a:r>
            <a:r>
              <a:rPr sz="11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calculer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la</a:t>
            </a:r>
            <a:r>
              <a:rPr sz="11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moyenne</a:t>
            </a:r>
            <a:r>
              <a:rPr sz="11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dirty="0">
                <a:solidFill>
                  <a:srgbClr val="0087FF"/>
                </a:solidFill>
                <a:latin typeface="Consolas"/>
                <a:cs typeface="Consolas"/>
              </a:rPr>
              <a:t>par</a:t>
            </a:r>
            <a:r>
              <a:rPr sz="11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100" i="1" spc="-10" dirty="0">
                <a:solidFill>
                  <a:srgbClr val="0087FF"/>
                </a:solidFill>
                <a:latin typeface="Consolas"/>
                <a:cs typeface="Consolas"/>
              </a:rPr>
              <a:t>étudiant</a:t>
            </a:r>
            <a:endParaRPr sz="1100">
              <a:latin typeface="Consolas"/>
              <a:cs typeface="Consolas"/>
            </a:endParaRPr>
          </a:p>
          <a:p>
            <a:pPr marL="92075" marR="1744345">
              <a:lnSpc>
                <a:spcPct val="100000"/>
              </a:lnSpc>
            </a:pP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moyennes_etudiants</a:t>
            </a:r>
            <a:r>
              <a:rPr sz="1100" spc="-5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100" spc="-45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9D00"/>
                </a:solidFill>
                <a:latin typeface="Consolas"/>
                <a:cs typeface="Consolas"/>
              </a:rPr>
              <a:t>apply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dirty="0">
                <a:solidFill>
                  <a:srgbClr val="E0EEFF"/>
                </a:solidFill>
                <a:latin typeface="Consolas"/>
                <a:cs typeface="Consolas"/>
              </a:rPr>
              <a:t>notes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618B"/>
                </a:solidFill>
                <a:latin typeface="Consolas"/>
                <a:cs typeface="Consolas"/>
              </a:rPr>
              <a:t>1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1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spc="-20" dirty="0">
                <a:solidFill>
                  <a:srgbClr val="E0EEFF"/>
                </a:solidFill>
                <a:latin typeface="Consolas"/>
                <a:cs typeface="Consolas"/>
              </a:rPr>
              <a:t>mean</a:t>
            </a:r>
            <a:r>
              <a:rPr sz="1100" spc="-2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Moyennes</a:t>
            </a:r>
            <a:r>
              <a:rPr sz="1100" spc="-2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A4FF90"/>
                </a:solidFill>
                <a:latin typeface="Consolas"/>
                <a:cs typeface="Consolas"/>
              </a:rPr>
              <a:t>par</a:t>
            </a:r>
            <a:r>
              <a:rPr sz="1100" spc="-2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A4FF90"/>
                </a:solidFill>
                <a:latin typeface="Consolas"/>
                <a:cs typeface="Consolas"/>
              </a:rPr>
              <a:t>étudiant:</a:t>
            </a:r>
            <a:r>
              <a:rPr sz="11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1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1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100" spc="-10" dirty="0">
                <a:solidFill>
                  <a:srgbClr val="E0EEFF"/>
                </a:solidFill>
                <a:latin typeface="Consolas"/>
                <a:cs typeface="Consolas"/>
              </a:rPr>
              <a:t>moyennes_etudiants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1636902"/>
            <a:ext cx="10278110" cy="906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Applications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 en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 manipulation</a:t>
            </a:r>
            <a:r>
              <a:rPr sz="1600" b="1" spc="-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matrices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matrice</a:t>
            </a:r>
            <a:r>
              <a:rPr sz="1400" b="1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"notes"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représente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notes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trois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étudiants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trois</a:t>
            </a:r>
            <a:r>
              <a:rPr sz="14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matières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différentes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(Mathématiques,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Sciences,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Français).</a:t>
            </a:r>
            <a:r>
              <a:rPr sz="14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fonctions</a:t>
            </a:r>
            <a:r>
              <a:rPr sz="14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374151"/>
                </a:solidFill>
                <a:latin typeface="Calibri"/>
                <a:cs typeface="Calibri"/>
              </a:rPr>
              <a:t>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sont</a:t>
            </a:r>
            <a:r>
              <a:rPr sz="14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utilisées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explorer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données,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calculer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statistiques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descriptives,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obtenir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moyennes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par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matière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par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étudiant.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1636902"/>
            <a:ext cx="6450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Fonctions</a:t>
            </a:r>
            <a:r>
              <a:rPr sz="16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création,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affichage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et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manipulation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Spécifiques</a:t>
            </a:r>
            <a:r>
              <a:rPr sz="16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au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Data</a:t>
            </a:r>
            <a:r>
              <a:rPr sz="16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Frames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12700" y="-105664"/>
            <a:ext cx="133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alibri"/>
                <a:cs typeface="Calibri"/>
              </a:rPr>
              <a:t>2.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52804" y="2078101"/>
          <a:ext cx="10268583" cy="4347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5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7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7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35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Fonction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Exemple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d'application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Sortie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data.frame()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Créer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frame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53975" marR="23050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&lt;-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data.frame(nom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c("Jean",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"Pierre",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"Marie"),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age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= c(20,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25,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30))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frame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avec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colonnes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"nom"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"age"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names()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Obtenir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ou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définir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 noms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colonnes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names(df)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&lt;br&gt;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names(df)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c("Nom",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"Âge")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34036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Affiche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noms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colonnes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&lt;br&gt;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Définit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les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noms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colonnes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head()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Afficher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premières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lignes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head(df)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Affiche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6 premières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lignes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(par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défaut)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tail()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Afficher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 dernières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lignes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tail(df)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Affiche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les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dernières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lignes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(par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défaut)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rbind()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Ajouter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lignes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22352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df_new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&lt;-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rbind(df,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data.frame(nom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"Alice",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age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=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35))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frame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avec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nouvelle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ligne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ajoutée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cbind()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Ajouter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des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colonnes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df_new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cbind(df,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ville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c("Paris",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"Lyon",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"Marseille"))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frame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avec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nouvelle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colonne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ajoutée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[-c(1),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c(1)]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Supprimer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lignes/colonnes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df_new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&lt;-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df[-c(1),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c(1)]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frame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sans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première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ligne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colonne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ncol()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Obtenir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nombre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colonnes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ncol(df)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Affiche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nombre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colonnes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nrow()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Obtenir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nombre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lignes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nrow(df)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Affiche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nombre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lignes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5B9BD4"/>
                      </a:solidFill>
                      <a:prstDash val="solid"/>
                    </a:lnL>
                    <a:lnR w="12700">
                      <a:solidFill>
                        <a:srgbClr val="5B9BD4"/>
                      </a:solidFill>
                      <a:prstDash val="solid"/>
                    </a:lnR>
                    <a:lnT w="12700">
                      <a:solidFill>
                        <a:srgbClr val="5B9BD4"/>
                      </a:solidFill>
                      <a:prstDash val="solid"/>
                    </a:lnT>
                    <a:lnB w="12700">
                      <a:solidFill>
                        <a:srgbClr val="5B9BD4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15390" y="345681"/>
            <a:ext cx="10740390" cy="5193665"/>
            <a:chOff x="915390" y="345681"/>
            <a:chExt cx="10740390" cy="51936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8" y="345681"/>
              <a:ext cx="659079" cy="65114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390" y="2861056"/>
              <a:ext cx="5066665" cy="2677795"/>
            </a:xfrm>
            <a:custGeom>
              <a:avLst/>
              <a:gdLst/>
              <a:ahLst/>
              <a:cxnLst/>
              <a:rect l="l" t="t" r="r" b="b"/>
              <a:pathLst>
                <a:path w="5066665" h="2677795">
                  <a:moveTo>
                    <a:pt x="5066665" y="0"/>
                  </a:moveTo>
                  <a:lnTo>
                    <a:pt x="0" y="0"/>
                  </a:lnTo>
                  <a:lnTo>
                    <a:pt x="0" y="2677668"/>
                  </a:lnTo>
                  <a:lnTo>
                    <a:pt x="5066665" y="2677668"/>
                  </a:lnTo>
                  <a:lnTo>
                    <a:pt x="5066665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2" name="object 12"/>
          <p:cNvSpPr txBox="1"/>
          <p:nvPr/>
        </p:nvSpPr>
        <p:spPr>
          <a:xfrm>
            <a:off x="-12700" y="-105664"/>
            <a:ext cx="133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alibri"/>
                <a:cs typeface="Calibri"/>
              </a:rPr>
              <a:t>2.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1636902"/>
            <a:ext cx="9825990" cy="906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Applications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manipulation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Data</a:t>
            </a:r>
            <a:r>
              <a:rPr sz="1600" b="1" spc="-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Frames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Reprenons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même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exemple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avec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"notes"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représentant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 les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notes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trois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étudiants dans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trois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matières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différentes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(Mathématiques,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Sciences,</a:t>
            </a:r>
            <a:r>
              <a:rPr sz="14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Français).</a:t>
            </a:r>
            <a:r>
              <a:rPr sz="14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mais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cette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fois</a:t>
            </a:r>
            <a:r>
              <a:rPr sz="14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utilisant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Data</a:t>
            </a:r>
            <a:r>
              <a:rPr sz="1400" b="1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74151"/>
                </a:solidFill>
                <a:latin typeface="Calibri"/>
                <a:cs typeface="Calibri"/>
              </a:rPr>
              <a:t>Frame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4359" y="2884170"/>
            <a:ext cx="484822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400" i="1" spc="-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Création</a:t>
            </a:r>
            <a:r>
              <a:rPr sz="1400" i="1" spc="1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d'un</a:t>
            </a:r>
            <a:r>
              <a:rPr sz="1400" i="1" spc="1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data</a:t>
            </a:r>
            <a:r>
              <a:rPr sz="1400" i="1" spc="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frame</a:t>
            </a:r>
            <a:r>
              <a:rPr sz="1400" i="1" spc="2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de</a:t>
            </a:r>
            <a:r>
              <a:rPr sz="1400" i="1" spc="1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notes</a:t>
            </a:r>
            <a:r>
              <a:rPr sz="1400" i="1" spc="1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spc="-10" dirty="0">
                <a:solidFill>
                  <a:srgbClr val="0087FF"/>
                </a:solidFill>
                <a:latin typeface="Consolas"/>
                <a:cs typeface="Consolas"/>
              </a:rPr>
              <a:t>d'étudiants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E0EEFF"/>
                </a:solidFill>
                <a:latin typeface="Consolas"/>
                <a:cs typeface="Consolas"/>
              </a:rPr>
              <a:t>etudiants</a:t>
            </a:r>
            <a:r>
              <a:rPr sz="1400" spc="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400" spc="15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9D00"/>
                </a:solidFill>
                <a:latin typeface="Consolas"/>
                <a:cs typeface="Consolas"/>
              </a:rPr>
              <a:t>data.frame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endParaRPr sz="1400">
              <a:latin typeface="Consolas"/>
              <a:cs typeface="Consolas"/>
            </a:endParaRPr>
          </a:p>
          <a:p>
            <a:pPr marL="208915">
              <a:lnSpc>
                <a:spcPct val="100000"/>
              </a:lnSpc>
            </a:pPr>
            <a:r>
              <a:rPr sz="1400" dirty="0">
                <a:solidFill>
                  <a:srgbClr val="E0EEFF"/>
                </a:solidFill>
                <a:latin typeface="Consolas"/>
                <a:cs typeface="Consolas"/>
              </a:rPr>
              <a:t>Nom</a:t>
            </a:r>
            <a:r>
              <a:rPr sz="1400" spc="2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=</a:t>
            </a:r>
            <a:r>
              <a:rPr sz="1400" spc="2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c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Étudiant1</a:t>
            </a:r>
            <a:r>
              <a:rPr sz="14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400" spc="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Étudiant2</a:t>
            </a:r>
            <a:r>
              <a:rPr sz="14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400" spc="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spc="-10" dirty="0">
                <a:solidFill>
                  <a:srgbClr val="A4FF90"/>
                </a:solidFill>
                <a:latin typeface="Consolas"/>
                <a:cs typeface="Consolas"/>
              </a:rPr>
              <a:t>Étudiant3</a:t>
            </a:r>
            <a:r>
              <a:rPr sz="14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),</a:t>
            </a:r>
            <a:endParaRPr sz="1400">
              <a:latin typeface="Consolas"/>
              <a:cs typeface="Consolas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975309" y="3551082"/>
          <a:ext cx="2721610" cy="881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329">
                <a:tc>
                  <a:txBody>
                    <a:bodyPr/>
                    <a:lstStyle/>
                    <a:p>
                      <a:pPr marR="41275" algn="r">
                        <a:lnSpc>
                          <a:spcPts val="1575"/>
                        </a:lnSpc>
                      </a:pPr>
                      <a:r>
                        <a:rPr sz="1400" dirty="0">
                          <a:solidFill>
                            <a:srgbClr val="E0EEFF"/>
                          </a:solidFill>
                          <a:latin typeface="Consolas"/>
                          <a:cs typeface="Consolas"/>
                        </a:rPr>
                        <a:t>Math</a:t>
                      </a:r>
                      <a:r>
                        <a:rPr sz="1400" spc="15" dirty="0">
                          <a:solidFill>
                            <a:srgbClr val="E0EE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9D00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spc="5" dirty="0">
                          <a:solidFill>
                            <a:srgbClr val="FF9D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9D0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400" dirty="0">
                          <a:solidFill>
                            <a:srgbClr val="FF618B"/>
                          </a:solidFill>
                          <a:latin typeface="Consolas"/>
                          <a:cs typeface="Consolas"/>
                        </a:rPr>
                        <a:t>85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400" spc="1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25" dirty="0">
                          <a:solidFill>
                            <a:srgbClr val="FF618B"/>
                          </a:solidFill>
                          <a:latin typeface="Consolas"/>
                          <a:cs typeface="Consolas"/>
                        </a:rPr>
                        <a:t>90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575"/>
                        </a:lnSpc>
                      </a:pPr>
                      <a:r>
                        <a:rPr sz="1400" spc="-20" dirty="0">
                          <a:solidFill>
                            <a:srgbClr val="FF618B"/>
                          </a:solidFill>
                          <a:latin typeface="Consolas"/>
                          <a:cs typeface="Consolas"/>
                        </a:rPr>
                        <a:t>78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),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R="41275" algn="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E0EEFF"/>
                          </a:solidFill>
                          <a:latin typeface="Consolas"/>
                          <a:cs typeface="Consolas"/>
                        </a:rPr>
                        <a:t>Sciences</a:t>
                      </a:r>
                      <a:r>
                        <a:rPr sz="1400" spc="5" dirty="0">
                          <a:solidFill>
                            <a:srgbClr val="E0EE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9D00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spc="10" dirty="0">
                          <a:solidFill>
                            <a:srgbClr val="FF9D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20" dirty="0">
                          <a:solidFill>
                            <a:srgbClr val="FF9D0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400" spc="-20" dirty="0">
                          <a:solidFill>
                            <a:srgbClr val="FF618B"/>
                          </a:solidFill>
                          <a:latin typeface="Consolas"/>
                          <a:cs typeface="Consolas"/>
                        </a:rPr>
                        <a:t>92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FF618B"/>
                          </a:solidFill>
                          <a:latin typeface="Consolas"/>
                          <a:cs typeface="Consolas"/>
                        </a:rPr>
                        <a:t>88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400" spc="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20" dirty="0">
                          <a:solidFill>
                            <a:srgbClr val="FF618B"/>
                          </a:solidFill>
                          <a:latin typeface="Consolas"/>
                          <a:cs typeface="Consolas"/>
                        </a:rPr>
                        <a:t>75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),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 marL="227965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E0EEFF"/>
                          </a:solidFill>
                          <a:latin typeface="Consolas"/>
                          <a:cs typeface="Consolas"/>
                        </a:rPr>
                        <a:t>Francais</a:t>
                      </a:r>
                      <a:r>
                        <a:rPr sz="1400" spc="5" dirty="0">
                          <a:solidFill>
                            <a:srgbClr val="E0EE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F9D00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spc="10" dirty="0">
                          <a:solidFill>
                            <a:srgbClr val="FF9D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20" dirty="0">
                          <a:solidFill>
                            <a:srgbClr val="FF9D0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400" spc="-20" dirty="0">
                          <a:solidFill>
                            <a:srgbClr val="FF618B"/>
                          </a:solidFill>
                          <a:latin typeface="Consolas"/>
                          <a:cs typeface="Consolas"/>
                        </a:rPr>
                        <a:t>95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FF618B"/>
                          </a:solidFill>
                          <a:latin typeface="Consolas"/>
                          <a:cs typeface="Consolas"/>
                        </a:rPr>
                        <a:t>89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sz="1400" spc="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25" dirty="0">
                          <a:solidFill>
                            <a:srgbClr val="FF618B"/>
                          </a:solidFill>
                          <a:latin typeface="Consolas"/>
                          <a:cs typeface="Consolas"/>
                        </a:rPr>
                        <a:t>80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994359" y="4591303"/>
            <a:ext cx="435610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400" i="1" spc="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Affichage</a:t>
            </a:r>
            <a:r>
              <a:rPr sz="1400" i="1" spc="2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du</a:t>
            </a:r>
            <a:r>
              <a:rPr sz="1400" i="1" spc="1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data</a:t>
            </a:r>
            <a:r>
              <a:rPr sz="1400" i="1" spc="1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frame</a:t>
            </a:r>
            <a:r>
              <a:rPr sz="1400" i="1" spc="1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des</a:t>
            </a:r>
            <a:r>
              <a:rPr sz="1400" i="1" spc="1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spc="-10" dirty="0">
                <a:solidFill>
                  <a:srgbClr val="0087FF"/>
                </a:solidFill>
                <a:latin typeface="Consolas"/>
                <a:cs typeface="Consolas"/>
              </a:rPr>
              <a:t>notes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Data</a:t>
            </a:r>
            <a:r>
              <a:rPr sz="1400" spc="-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frame</a:t>
            </a:r>
            <a:r>
              <a:rPr sz="1400" spc="1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des</a:t>
            </a:r>
            <a:r>
              <a:rPr sz="1400" spc="15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notes</a:t>
            </a:r>
            <a:r>
              <a:rPr sz="1400" spc="1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des</a:t>
            </a:r>
            <a:r>
              <a:rPr sz="1400" spc="2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4FF90"/>
                </a:solidFill>
                <a:latin typeface="Consolas"/>
                <a:cs typeface="Consolas"/>
              </a:rPr>
              <a:t>étudiants:</a:t>
            </a:r>
            <a:r>
              <a:rPr sz="14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4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4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spc="-10" dirty="0">
                <a:solidFill>
                  <a:srgbClr val="E0EEFF"/>
                </a:solidFill>
                <a:latin typeface="Consolas"/>
                <a:cs typeface="Consolas"/>
              </a:rPr>
              <a:t>etudiants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9919" y="3383660"/>
            <a:ext cx="4418711" cy="208330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209919" y="2861106"/>
            <a:ext cx="4418965" cy="382270"/>
          </a:xfrm>
          <a:prstGeom prst="rect">
            <a:avLst/>
          </a:prstGeom>
          <a:solidFill>
            <a:srgbClr val="FFF1CC"/>
          </a:solidFill>
          <a:ln w="9525">
            <a:solidFill>
              <a:srgbClr val="FFD966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860"/>
              </a:spcBef>
            </a:pPr>
            <a:r>
              <a:rPr sz="1400" b="1" dirty="0">
                <a:latin typeface="Calibri"/>
                <a:cs typeface="Calibri"/>
              </a:rPr>
              <a:t>Sortie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Attendue</a:t>
            </a:r>
            <a:r>
              <a:rPr sz="1400" b="1" spc="-50" dirty="0">
                <a:latin typeface="Calibri"/>
                <a:cs typeface="Calibri"/>
              </a:rPr>
              <a:t> 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21942" y="345681"/>
            <a:ext cx="10333355" cy="5624830"/>
            <a:chOff x="1321942" y="345681"/>
            <a:chExt cx="10333355" cy="56248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7" y="345681"/>
              <a:ext cx="659079" cy="65114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21942" y="2861437"/>
              <a:ext cx="4745355" cy="3108960"/>
            </a:xfrm>
            <a:custGeom>
              <a:avLst/>
              <a:gdLst/>
              <a:ahLst/>
              <a:cxnLst/>
              <a:rect l="l" t="t" r="r" b="b"/>
              <a:pathLst>
                <a:path w="4745355" h="3108960">
                  <a:moveTo>
                    <a:pt x="4744847" y="0"/>
                  </a:moveTo>
                  <a:lnTo>
                    <a:pt x="0" y="0"/>
                  </a:lnTo>
                  <a:lnTo>
                    <a:pt x="0" y="3108579"/>
                  </a:lnTo>
                  <a:lnTo>
                    <a:pt x="4744847" y="3108579"/>
                  </a:lnTo>
                  <a:lnTo>
                    <a:pt x="4744847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2" name="object 12"/>
          <p:cNvSpPr txBox="1"/>
          <p:nvPr/>
        </p:nvSpPr>
        <p:spPr>
          <a:xfrm>
            <a:off x="-12700" y="-105664"/>
            <a:ext cx="133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alibri"/>
                <a:cs typeface="Calibri"/>
              </a:rPr>
              <a:t>2.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982" y="1636902"/>
            <a:ext cx="9901555" cy="906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Applications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manipulation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Data</a:t>
            </a:r>
            <a:r>
              <a:rPr sz="1600" b="1" spc="-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Frames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Ensuite,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nous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affichons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moyennes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par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matière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par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étudiant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partir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du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data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frame</a:t>
            </a:r>
            <a:r>
              <a:rPr sz="14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notes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étudiants,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suivi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par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statistiques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descriptives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chaque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matière.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00936" y="2884424"/>
            <a:ext cx="415988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400" i="1" spc="-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Moyennes</a:t>
            </a:r>
            <a:r>
              <a:rPr sz="1400" i="1" spc="1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par</a:t>
            </a:r>
            <a:r>
              <a:rPr sz="1400" i="1" spc="2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spc="-10" dirty="0">
                <a:solidFill>
                  <a:srgbClr val="0087FF"/>
                </a:solidFill>
                <a:latin typeface="Consolas"/>
                <a:cs typeface="Consolas"/>
              </a:rPr>
              <a:t>matière</a:t>
            </a:r>
            <a:endParaRPr sz="14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solidFill>
                  <a:srgbClr val="E0EEFF"/>
                </a:solidFill>
                <a:latin typeface="Consolas"/>
                <a:cs typeface="Consolas"/>
              </a:rPr>
              <a:t>moy_matieres</a:t>
            </a:r>
            <a:r>
              <a:rPr sz="1400" spc="20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400" spc="3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colMeans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dirty="0">
                <a:solidFill>
                  <a:srgbClr val="E0EEFF"/>
                </a:solidFill>
                <a:latin typeface="Consolas"/>
                <a:cs typeface="Consolas"/>
              </a:rPr>
              <a:t>etudiants[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400" spc="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618B"/>
                </a:solidFill>
                <a:latin typeface="Consolas"/>
                <a:cs typeface="Consolas"/>
              </a:rPr>
              <a:t>2</a:t>
            </a:r>
            <a:r>
              <a:rPr sz="1400" spc="-10" dirty="0">
                <a:solidFill>
                  <a:srgbClr val="FF9D00"/>
                </a:solidFill>
                <a:latin typeface="Consolas"/>
                <a:cs typeface="Consolas"/>
              </a:rPr>
              <a:t>:</a:t>
            </a:r>
            <a:r>
              <a:rPr sz="1400" spc="-10" dirty="0">
                <a:solidFill>
                  <a:srgbClr val="FF618B"/>
                </a:solidFill>
                <a:latin typeface="Consolas"/>
                <a:cs typeface="Consolas"/>
              </a:rPr>
              <a:t>4</a:t>
            </a:r>
            <a:r>
              <a:rPr sz="1400" spc="-10" dirty="0">
                <a:solidFill>
                  <a:srgbClr val="E0EEFF"/>
                </a:solidFill>
                <a:latin typeface="Consolas"/>
                <a:cs typeface="Consolas"/>
              </a:rPr>
              <a:t>]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Moyennes</a:t>
            </a:r>
            <a:r>
              <a:rPr sz="1400" spc="2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par</a:t>
            </a:r>
            <a:r>
              <a:rPr sz="1400" spc="1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4FF90"/>
                </a:solidFill>
                <a:latin typeface="Consolas"/>
                <a:cs typeface="Consolas"/>
              </a:rPr>
              <a:t>matière:</a:t>
            </a:r>
            <a:r>
              <a:rPr sz="14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4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4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spc="-10" dirty="0">
                <a:solidFill>
                  <a:srgbClr val="E0EEFF"/>
                </a:solidFill>
                <a:latin typeface="Consolas"/>
                <a:cs typeface="Consolas"/>
              </a:rPr>
              <a:t>moy_matieres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0936" y="3951477"/>
            <a:ext cx="455422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400" i="1" spc="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Moyennes</a:t>
            </a:r>
            <a:r>
              <a:rPr sz="1400" i="1" spc="1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par</a:t>
            </a:r>
            <a:r>
              <a:rPr sz="1400" i="1" spc="2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spc="-10" dirty="0">
                <a:solidFill>
                  <a:srgbClr val="0087FF"/>
                </a:solidFill>
                <a:latin typeface="Consolas"/>
                <a:cs typeface="Consolas"/>
              </a:rPr>
              <a:t>étudiant</a:t>
            </a:r>
            <a:endParaRPr sz="1400">
              <a:latin typeface="Consolas"/>
              <a:cs typeface="Consolas"/>
            </a:endParaRPr>
          </a:p>
          <a:p>
            <a:pPr marL="12700" marR="30035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E0EEFF"/>
                </a:solidFill>
                <a:latin typeface="Consolas"/>
                <a:cs typeface="Consolas"/>
              </a:rPr>
              <a:t>moy_etudiants</a:t>
            </a:r>
            <a:r>
              <a:rPr sz="1400" spc="2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400" spc="3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rowMeans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dirty="0">
                <a:solidFill>
                  <a:srgbClr val="E0EEFF"/>
                </a:solidFill>
                <a:latin typeface="Consolas"/>
                <a:cs typeface="Consolas"/>
              </a:rPr>
              <a:t>etudiants[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400" spc="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618B"/>
                </a:solidFill>
                <a:latin typeface="Consolas"/>
                <a:cs typeface="Consolas"/>
              </a:rPr>
              <a:t>2</a:t>
            </a:r>
            <a:r>
              <a:rPr sz="1400" spc="-10" dirty="0">
                <a:solidFill>
                  <a:srgbClr val="FF9D00"/>
                </a:solidFill>
                <a:latin typeface="Consolas"/>
                <a:cs typeface="Consolas"/>
              </a:rPr>
              <a:t>:</a:t>
            </a:r>
            <a:r>
              <a:rPr sz="1400" spc="-10" dirty="0">
                <a:solidFill>
                  <a:srgbClr val="FF618B"/>
                </a:solidFill>
                <a:latin typeface="Consolas"/>
                <a:cs typeface="Consolas"/>
              </a:rPr>
              <a:t>4</a:t>
            </a:r>
            <a:r>
              <a:rPr sz="1400" spc="-10" dirty="0">
                <a:solidFill>
                  <a:srgbClr val="E0EEFF"/>
                </a:solidFill>
                <a:latin typeface="Consolas"/>
                <a:cs typeface="Consolas"/>
              </a:rPr>
              <a:t>]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Moyennes</a:t>
            </a:r>
            <a:r>
              <a:rPr sz="1400" spc="2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par</a:t>
            </a:r>
            <a:r>
              <a:rPr sz="1400" spc="1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4FF90"/>
                </a:solidFill>
                <a:latin typeface="Consolas"/>
                <a:cs typeface="Consolas"/>
              </a:rPr>
              <a:t>étudiant:</a:t>
            </a:r>
            <a:r>
              <a:rPr sz="14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4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4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spc="-10" dirty="0">
                <a:solidFill>
                  <a:srgbClr val="E0EEFF"/>
                </a:solidFill>
                <a:latin typeface="Consolas"/>
                <a:cs typeface="Consolas"/>
              </a:rPr>
              <a:t>moy_etudiants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400" i="1" spc="-2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Obtention</a:t>
            </a:r>
            <a:r>
              <a:rPr sz="1400" i="1" spc="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des</a:t>
            </a:r>
            <a:r>
              <a:rPr sz="1400" i="1" spc="-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dirty="0">
                <a:solidFill>
                  <a:srgbClr val="0087FF"/>
                </a:solidFill>
                <a:latin typeface="Consolas"/>
                <a:cs typeface="Consolas"/>
              </a:rPr>
              <a:t>statistiques</a:t>
            </a:r>
            <a:r>
              <a:rPr sz="1400" i="1" spc="-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400" i="1" spc="-10" dirty="0">
                <a:solidFill>
                  <a:srgbClr val="0087FF"/>
                </a:solidFill>
                <a:latin typeface="Consolas"/>
                <a:cs typeface="Consolas"/>
              </a:rPr>
              <a:t>descriptives </a:t>
            </a:r>
            <a:r>
              <a:rPr sz="1400" dirty="0">
                <a:solidFill>
                  <a:srgbClr val="E0EEFF"/>
                </a:solidFill>
                <a:latin typeface="Consolas"/>
                <a:cs typeface="Consolas"/>
              </a:rPr>
              <a:t>stat_descriptives</a:t>
            </a:r>
            <a:r>
              <a:rPr sz="1400" spc="20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400" spc="3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summary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dirty="0">
                <a:solidFill>
                  <a:srgbClr val="E0EEFF"/>
                </a:solidFill>
                <a:latin typeface="Consolas"/>
                <a:cs typeface="Consolas"/>
              </a:rPr>
              <a:t>etudiants[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,</a:t>
            </a:r>
            <a:r>
              <a:rPr sz="1400" spc="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618B"/>
                </a:solidFill>
                <a:latin typeface="Consolas"/>
                <a:cs typeface="Consolas"/>
              </a:rPr>
              <a:t>2</a:t>
            </a:r>
            <a:r>
              <a:rPr sz="1400" spc="-10" dirty="0">
                <a:solidFill>
                  <a:srgbClr val="FF9D00"/>
                </a:solidFill>
                <a:latin typeface="Consolas"/>
                <a:cs typeface="Consolas"/>
              </a:rPr>
              <a:t>:</a:t>
            </a:r>
            <a:r>
              <a:rPr sz="1400" spc="-10" dirty="0">
                <a:solidFill>
                  <a:srgbClr val="FF618B"/>
                </a:solidFill>
                <a:latin typeface="Consolas"/>
                <a:cs typeface="Consolas"/>
              </a:rPr>
              <a:t>4</a:t>
            </a:r>
            <a:r>
              <a:rPr sz="1400" spc="-10" dirty="0">
                <a:solidFill>
                  <a:srgbClr val="E0EEFF"/>
                </a:solidFill>
                <a:latin typeface="Consolas"/>
                <a:cs typeface="Consolas"/>
              </a:rPr>
              <a:t>]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cat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400" dirty="0">
                <a:solidFill>
                  <a:srgbClr val="A4FF90"/>
                </a:solidFill>
                <a:latin typeface="Consolas"/>
                <a:cs typeface="Consolas"/>
              </a:rPr>
              <a:t>Statistiques</a:t>
            </a:r>
            <a:r>
              <a:rPr sz="1400" spc="20" dirty="0">
                <a:solidFill>
                  <a:srgbClr val="A4FF9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4FF90"/>
                </a:solidFill>
                <a:latin typeface="Consolas"/>
                <a:cs typeface="Consolas"/>
              </a:rPr>
              <a:t>descriptives:</a:t>
            </a:r>
            <a:r>
              <a:rPr sz="1400" spc="-10" dirty="0">
                <a:solidFill>
                  <a:srgbClr val="FF618B"/>
                </a:solidFill>
                <a:latin typeface="Consolas"/>
                <a:cs typeface="Consolas"/>
              </a:rPr>
              <a:t>\n</a:t>
            </a:r>
            <a:r>
              <a:rPr sz="14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4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spc="-10" dirty="0">
                <a:solidFill>
                  <a:srgbClr val="E0EEFF"/>
                </a:solidFill>
                <a:latin typeface="Consolas"/>
                <a:cs typeface="Consolas"/>
              </a:rPr>
              <a:t>stat_descriptives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61585" y="3382302"/>
            <a:ext cx="6129655" cy="3126105"/>
            <a:chOff x="4561585" y="3382302"/>
            <a:chExt cx="6129655" cy="312610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4553" y="3382302"/>
              <a:ext cx="4226179" cy="312574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61585" y="5572251"/>
              <a:ext cx="1118870" cy="568325"/>
            </a:xfrm>
            <a:custGeom>
              <a:avLst/>
              <a:gdLst/>
              <a:ahLst/>
              <a:cxnLst/>
              <a:rect l="l" t="t" r="r" b="b"/>
              <a:pathLst>
                <a:path w="1118870" h="568325">
                  <a:moveTo>
                    <a:pt x="1007640" y="34092"/>
                  </a:moveTo>
                  <a:lnTo>
                    <a:pt x="0" y="533654"/>
                  </a:lnTo>
                  <a:lnTo>
                    <a:pt x="16890" y="567791"/>
                  </a:lnTo>
                  <a:lnTo>
                    <a:pt x="1024591" y="68262"/>
                  </a:lnTo>
                  <a:lnTo>
                    <a:pt x="1007640" y="34092"/>
                  </a:lnTo>
                  <a:close/>
                </a:path>
                <a:path w="1118870" h="568325">
                  <a:moveTo>
                    <a:pt x="1099413" y="25666"/>
                  </a:moveTo>
                  <a:lnTo>
                    <a:pt x="1024636" y="25666"/>
                  </a:lnTo>
                  <a:lnTo>
                    <a:pt x="1041653" y="59804"/>
                  </a:lnTo>
                  <a:lnTo>
                    <a:pt x="1024591" y="68262"/>
                  </a:lnTo>
                  <a:lnTo>
                    <a:pt x="1041526" y="102400"/>
                  </a:lnTo>
                  <a:lnTo>
                    <a:pt x="1099413" y="25666"/>
                  </a:lnTo>
                  <a:close/>
                </a:path>
                <a:path w="1118870" h="568325">
                  <a:moveTo>
                    <a:pt x="1024636" y="25666"/>
                  </a:moveTo>
                  <a:lnTo>
                    <a:pt x="1007640" y="34092"/>
                  </a:lnTo>
                  <a:lnTo>
                    <a:pt x="1024591" y="68262"/>
                  </a:lnTo>
                  <a:lnTo>
                    <a:pt x="1041653" y="59804"/>
                  </a:lnTo>
                  <a:lnTo>
                    <a:pt x="1024636" y="25666"/>
                  </a:lnTo>
                  <a:close/>
                </a:path>
                <a:path w="1118870" h="568325">
                  <a:moveTo>
                    <a:pt x="990726" y="0"/>
                  </a:moveTo>
                  <a:lnTo>
                    <a:pt x="1007640" y="34092"/>
                  </a:lnTo>
                  <a:lnTo>
                    <a:pt x="1024636" y="25666"/>
                  </a:lnTo>
                  <a:lnTo>
                    <a:pt x="1099413" y="25666"/>
                  </a:lnTo>
                  <a:lnTo>
                    <a:pt x="1118489" y="381"/>
                  </a:lnTo>
                  <a:lnTo>
                    <a:pt x="990726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64553" y="2811830"/>
            <a:ext cx="3475990" cy="382270"/>
          </a:xfrm>
          <a:prstGeom prst="rect">
            <a:avLst/>
          </a:prstGeom>
          <a:solidFill>
            <a:srgbClr val="FFF1CC"/>
          </a:solidFill>
          <a:ln w="9525">
            <a:solidFill>
              <a:srgbClr val="FFD966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860"/>
              </a:spcBef>
            </a:pPr>
            <a:r>
              <a:rPr sz="1400" b="1" dirty="0">
                <a:latin typeface="Calibri"/>
                <a:cs typeface="Calibri"/>
              </a:rPr>
              <a:t>Sortie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Attendue</a:t>
            </a:r>
            <a:r>
              <a:rPr sz="1400" b="1" spc="-50" dirty="0">
                <a:latin typeface="Calibri"/>
                <a:cs typeface="Calibri"/>
              </a:rPr>
              <a:t> 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3073400" y="6122987"/>
            <a:ext cx="2993390" cy="307975"/>
          </a:xfrm>
          <a:prstGeom prst="rect">
            <a:avLst/>
          </a:prstGeom>
          <a:ln w="28575">
            <a:solidFill>
              <a:srgbClr val="FFD966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1400" dirty="0">
                <a:latin typeface="Calibri"/>
                <a:cs typeface="Calibri"/>
              </a:rPr>
              <a:t>Excluant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formats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numériques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8831" y="345681"/>
            <a:ext cx="7796530" cy="5506085"/>
            <a:chOff x="3858831" y="345681"/>
            <a:chExt cx="7796530" cy="550608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7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8420" y="4566983"/>
              <a:ext cx="4226179" cy="12748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63594" y="4562220"/>
              <a:ext cx="4236085" cy="1284605"/>
            </a:xfrm>
            <a:custGeom>
              <a:avLst/>
              <a:gdLst/>
              <a:ahLst/>
              <a:cxnLst/>
              <a:rect l="l" t="t" r="r" b="b"/>
              <a:pathLst>
                <a:path w="4236084" h="1284604">
                  <a:moveTo>
                    <a:pt x="0" y="1284350"/>
                  </a:moveTo>
                  <a:lnTo>
                    <a:pt x="4235704" y="1284350"/>
                  </a:lnTo>
                  <a:lnTo>
                    <a:pt x="4235704" y="0"/>
                  </a:lnTo>
                  <a:lnTo>
                    <a:pt x="0" y="0"/>
                  </a:lnTo>
                  <a:lnTo>
                    <a:pt x="0" y="128435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10" dirty="0">
                <a:solidFill>
                  <a:srgbClr val="007842"/>
                </a:solidFill>
              </a:rPr>
              <a:t>Premières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manipulations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données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-12700" y="-105664"/>
            <a:ext cx="133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alibri"/>
                <a:cs typeface="Calibri"/>
              </a:rPr>
              <a:t>2.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8982" y="1636902"/>
            <a:ext cx="10223500" cy="2047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Applications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manipulation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Data</a:t>
            </a:r>
            <a:r>
              <a:rPr sz="1600" b="1" spc="-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Frames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b="1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fonction</a:t>
            </a:r>
            <a:r>
              <a:rPr sz="1400" b="1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summary()</a:t>
            </a:r>
            <a:r>
              <a:rPr sz="1400" b="1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374151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fonction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9D00"/>
                </a:solidFill>
                <a:latin typeface="Consolas"/>
                <a:cs typeface="Consolas"/>
              </a:rPr>
              <a:t>summary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()</a:t>
            </a:r>
            <a:r>
              <a:rPr sz="1400" spc="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fournit</a:t>
            </a:r>
            <a:r>
              <a:rPr sz="14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résumé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statistique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descriptif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données.</a:t>
            </a:r>
            <a:endParaRPr sz="14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Lorsqu'elle</a:t>
            </a:r>
            <a:r>
              <a:rPr sz="14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appliquée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trame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données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(data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frame)</a:t>
            </a:r>
            <a:r>
              <a:rPr sz="14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ou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matrice,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elle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retourne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statistiques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clés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chaque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colonne.</a:t>
            </a:r>
            <a:endParaRPr sz="1400">
              <a:latin typeface="Calibri"/>
              <a:cs typeface="Calibri"/>
            </a:endParaRPr>
          </a:p>
          <a:p>
            <a:pPr marL="299085" marR="454025" indent="-287020">
              <a:lnSpc>
                <a:spcPct val="15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Ces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statistiques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comprennent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généralement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valeur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minimum,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premier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quartile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(1er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Qu.),</a:t>
            </a:r>
            <a:r>
              <a:rPr sz="14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médiane,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moyenne,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troisième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quartile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(3ème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Qu.)</a:t>
            </a:r>
            <a:r>
              <a:rPr sz="14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valeur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maximum.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7" y="0"/>
            <a:ext cx="6483686" cy="685799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010017" y="6132982"/>
            <a:ext cx="2160270" cy="720090"/>
            <a:chOff x="8010017" y="6132982"/>
            <a:chExt cx="2160270" cy="720090"/>
          </a:xfrm>
        </p:grpSpPr>
        <p:sp>
          <p:nvSpPr>
            <p:cNvPr id="4" name="object 4"/>
            <p:cNvSpPr/>
            <p:nvPr/>
          </p:nvSpPr>
          <p:spPr>
            <a:xfrm>
              <a:off x="8010017" y="6132982"/>
              <a:ext cx="2160270" cy="720090"/>
            </a:xfrm>
            <a:custGeom>
              <a:avLst/>
              <a:gdLst/>
              <a:ahLst/>
              <a:cxnLst/>
              <a:rect l="l" t="t" r="r" b="b"/>
              <a:pathLst>
                <a:path w="2160270" h="720090">
                  <a:moveTo>
                    <a:pt x="2040001" y="0"/>
                  </a:moveTo>
                  <a:lnTo>
                    <a:pt x="120014" y="0"/>
                  </a:lnTo>
                  <a:lnTo>
                    <a:pt x="73294" y="9431"/>
                  </a:lnTo>
                  <a:lnTo>
                    <a:pt x="35147" y="35150"/>
                  </a:lnTo>
                  <a:lnTo>
                    <a:pt x="9429" y="73294"/>
                  </a:lnTo>
                  <a:lnTo>
                    <a:pt x="0" y="120002"/>
                  </a:lnTo>
                  <a:lnTo>
                    <a:pt x="0" y="720003"/>
                  </a:lnTo>
                  <a:lnTo>
                    <a:pt x="2160015" y="720003"/>
                  </a:lnTo>
                  <a:lnTo>
                    <a:pt x="2160015" y="120002"/>
                  </a:lnTo>
                  <a:lnTo>
                    <a:pt x="2150586" y="73294"/>
                  </a:lnTo>
                  <a:lnTo>
                    <a:pt x="2124868" y="35150"/>
                  </a:lnTo>
                  <a:lnTo>
                    <a:pt x="2086721" y="9431"/>
                  </a:lnTo>
                  <a:lnTo>
                    <a:pt x="2040001" y="0"/>
                  </a:lnTo>
                  <a:close/>
                </a:path>
              </a:pathLst>
            </a:custGeom>
            <a:solidFill>
              <a:srgbClr val="FF7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420" y="6268948"/>
              <a:ext cx="401662" cy="395998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442" y="195745"/>
            <a:ext cx="1027201" cy="10148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79590" y="2358390"/>
            <a:ext cx="4404995" cy="1081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Dans</a:t>
            </a:r>
            <a:r>
              <a:rPr sz="1800" b="1" spc="-1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ce</a:t>
            </a:r>
            <a:r>
              <a:rPr sz="1800" b="1" spc="-1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module,</a:t>
            </a:r>
            <a:r>
              <a:rPr sz="1800" b="1" spc="-4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vous</a:t>
            </a:r>
            <a:r>
              <a:rPr sz="1800" b="1" spc="-2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7800"/>
                </a:solidFill>
                <a:latin typeface="Calibri"/>
                <a:cs typeface="Calibri"/>
              </a:rPr>
              <a:t>allez</a:t>
            </a:r>
            <a:r>
              <a:rPr sz="1800" b="1" spc="-35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780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Calibri"/>
              <a:cs typeface="Calibri"/>
            </a:endParaRPr>
          </a:p>
          <a:p>
            <a:pPr marL="554355" indent="-229235">
              <a:lnSpc>
                <a:spcPct val="100000"/>
              </a:lnSpc>
              <a:buFont typeface="Arial"/>
              <a:buChar char="•"/>
              <a:tabLst>
                <a:tab pos="554355" algn="l"/>
                <a:tab pos="554990" algn="l"/>
              </a:tabLst>
            </a:pPr>
            <a:r>
              <a:rPr sz="1400" dirty="0">
                <a:latin typeface="Calibri"/>
                <a:cs typeface="Calibri"/>
              </a:rPr>
              <a:t>Créer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divers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types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graphiques</a:t>
            </a:r>
            <a:endParaRPr sz="1400">
              <a:latin typeface="Calibri"/>
              <a:cs typeface="Calibri"/>
            </a:endParaRPr>
          </a:p>
          <a:p>
            <a:pPr marL="554355" indent="-22923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554355" algn="l"/>
                <a:tab pos="554990" algn="l"/>
              </a:tabLst>
            </a:pPr>
            <a:r>
              <a:rPr sz="1400" dirty="0">
                <a:latin typeface="Calibri"/>
                <a:cs typeface="Calibri"/>
              </a:rPr>
              <a:t>Configurer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graphiques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pour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analyse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profonde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57463" y="4542332"/>
            <a:ext cx="865073" cy="86507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436356" y="571576"/>
            <a:ext cx="1309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solidFill>
                  <a:srgbClr val="FF7800"/>
                </a:solidFill>
              </a:rPr>
              <a:t>PARTIE</a:t>
            </a:r>
            <a:r>
              <a:rPr sz="2800" spc="-120" dirty="0">
                <a:solidFill>
                  <a:srgbClr val="FF7800"/>
                </a:solidFill>
              </a:rPr>
              <a:t> </a:t>
            </a:r>
            <a:r>
              <a:rPr sz="2800" spc="-50" dirty="0">
                <a:solidFill>
                  <a:srgbClr val="FF7800"/>
                </a:solidFill>
              </a:rPr>
              <a:t>2</a:t>
            </a:r>
            <a:endParaRPr sz="2800"/>
          </a:p>
        </p:txBody>
      </p:sp>
      <p:sp>
        <p:nvSpPr>
          <p:cNvPr id="11" name="object 11"/>
          <p:cNvSpPr txBox="1"/>
          <p:nvPr/>
        </p:nvSpPr>
        <p:spPr>
          <a:xfrm>
            <a:off x="8695435" y="6336893"/>
            <a:ext cx="12623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heures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50073" y="1100454"/>
            <a:ext cx="328802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2615" marR="5080" indent="-59055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7800"/>
                </a:solidFill>
                <a:latin typeface="Calibri"/>
                <a:cs typeface="Calibri"/>
              </a:rPr>
              <a:t>Visualiser</a:t>
            </a:r>
            <a:r>
              <a:rPr sz="2800" b="1" spc="-5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7800"/>
                </a:solidFill>
                <a:latin typeface="Calibri"/>
                <a:cs typeface="Calibri"/>
              </a:rPr>
              <a:t>les</a:t>
            </a:r>
            <a:r>
              <a:rPr sz="2800" b="1" spc="-80" dirty="0">
                <a:solidFill>
                  <a:srgbClr val="FF78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7800"/>
                </a:solidFill>
                <a:latin typeface="Calibri"/>
                <a:cs typeface="Calibri"/>
              </a:rPr>
              <a:t>données décisionnelles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2992</Words>
  <Application>Microsoft Office PowerPoint</Application>
  <PresentationFormat>Grand écran</PresentationFormat>
  <Paragraphs>505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Segoe UI Symbol</vt:lpstr>
      <vt:lpstr>Times New Roman</vt:lpstr>
      <vt:lpstr>Office Theme</vt:lpstr>
      <vt:lpstr>CHAPITRE 4</vt:lpstr>
      <vt:lpstr>04 – VULGARISER LE LANGAGE R Structures de données fondamentales en R</vt:lpstr>
      <vt:lpstr>04 – VULGARISER LE LANGAGE R Structures de données fondamentales en R</vt:lpstr>
      <vt:lpstr>04 – VULGARISER LE LANGAGE R Structures de données fondamentales en R</vt:lpstr>
      <vt:lpstr>04 – VULGARISER LE LANGAGE R Structures de données fondamentales en R</vt:lpstr>
      <vt:lpstr>CHAPITRE 4</vt:lpstr>
      <vt:lpstr>04 – VULGARISER LE LANGAGE R Premières manipulations de données en R</vt:lpstr>
      <vt:lpstr>04 – VULGARISER LE LANGAGE R Premières manipulations de données en R</vt:lpstr>
      <vt:lpstr>04 – VULGARISER LE LANGAGE R Premières manipulations de données en R</vt:lpstr>
      <vt:lpstr>04 – VULGARISER LE LANGAGE R Premières manipulations de données en R</vt:lpstr>
      <vt:lpstr>04 – VULGARISER LE LANGAGE R Premières manipulations de données en R</vt:lpstr>
      <vt:lpstr>04 – VULGARISER LE LANGAGE R Premières manipulations de données en R</vt:lpstr>
      <vt:lpstr>04 – VULGARISER LE LANGAGE R Premières manipulations de données en R</vt:lpstr>
      <vt:lpstr>04 – VULGARISER LE LANGAGE R Premières manipulations de données en R</vt:lpstr>
      <vt:lpstr>04 – VULGARISER LE LANGAGE R Premières manipulations de données en R</vt:lpstr>
      <vt:lpstr>04 – VULGARISER LE LANGAGE R Premières manipulations de données en R</vt:lpstr>
      <vt:lpstr>04 – VULGARISER LE LANGAGE R Premières manipulations de données en R</vt:lpstr>
      <vt:lpstr>PARTIE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</dc:creator>
  <cp:lastModifiedBy>ELARBI EL-ALAOUY</cp:lastModifiedBy>
  <cp:revision>3</cp:revision>
  <dcterms:created xsi:type="dcterms:W3CDTF">2024-09-30T23:08:11Z</dcterms:created>
  <dcterms:modified xsi:type="dcterms:W3CDTF">2024-10-05T00:29:42Z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2024-09-30T00:00:00Z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2024-09-30T00:00:00Z</vt:filetime>
  </property>
  <property fmtid="{D5CDD505-2E9C-101B-9397-08002B2CF9AE}" pid="5" name="Producer">
    <vt:lpwstr>Microsoft® PowerPoint® for Microsoft 365</vt:lpwstr>
  </property>
</Properties>
</file>