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1" r:id="rId2"/>
    <p:sldId id="362" r:id="rId3"/>
    <p:sldId id="401" r:id="rId4"/>
    <p:sldId id="402" r:id="rId5"/>
    <p:sldId id="403" r:id="rId6"/>
    <p:sldId id="404" r:id="rId7"/>
    <p:sldId id="405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-ARBI EL-ALAOUY" initials="EE" lastIdx="2" clrIdx="0">
    <p:extLst>
      <p:ext uri="{19B8F6BF-5375-455C-9EA6-DF929625EA0E}">
        <p15:presenceInfo xmlns:p15="http://schemas.microsoft.com/office/powerpoint/2012/main" userId="S::ELARBI.ELALAOUY@ofppt.ma::328fd111-a4b5-4d61-919a-b1b69a7c4cc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30" autoAdjust="0"/>
    <p:restoredTop sz="94660"/>
  </p:normalViewPr>
  <p:slideViewPr>
    <p:cSldViewPr>
      <p:cViewPr varScale="1">
        <p:scale>
          <a:sx n="108" d="100"/>
          <a:sy n="108" d="100"/>
        </p:scale>
        <p:origin x="330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-ARBI EL-ALAOUY" userId="328fd111-a4b5-4d61-919a-b1b69a7c4cc8" providerId="ADAL" clId="{28B249C7-BD6E-43CE-AFB5-5B458D3A4E24}"/>
    <pc:docChg chg="addSld delSld modSld sldOrd">
      <pc:chgData name="EL-ARBI EL-ALAOUY" userId="328fd111-a4b5-4d61-919a-b1b69a7c4cc8" providerId="ADAL" clId="{28B249C7-BD6E-43CE-AFB5-5B458D3A4E24}" dt="2024-09-30T23:38:39.282" v="21"/>
      <pc:docMkLst>
        <pc:docMk/>
      </pc:docMkLst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5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6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7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8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29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0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1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2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3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4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0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1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2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3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4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5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6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7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8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59"/>
        </pc:sldMkLst>
      </pc:sldChg>
      <pc:sldChg chg="del">
        <pc:chgData name="EL-ARBI EL-ALAOUY" userId="328fd111-a4b5-4d61-919a-b1b69a7c4cc8" providerId="ADAL" clId="{28B249C7-BD6E-43CE-AFB5-5B458D3A4E24}" dt="2024-09-30T23:18:44.133" v="7" actId="47"/>
        <pc:sldMkLst>
          <pc:docMk/>
          <pc:sldMk cId="0" sldId="360"/>
        </pc:sldMkLst>
      </pc:sldChg>
      <pc:sldChg chg="modCm">
        <pc:chgData name="EL-ARBI EL-ALAOUY" userId="328fd111-a4b5-4d61-919a-b1b69a7c4cc8" providerId="ADAL" clId="{28B249C7-BD6E-43CE-AFB5-5B458D3A4E24}" dt="2024-09-30T23:33:54.048" v="9"/>
        <pc:sldMkLst>
          <pc:docMk/>
          <pc:sldMk cId="0" sldId="413"/>
        </pc:sldMkLst>
      </pc:sldChg>
      <pc:sldChg chg="modCm">
        <pc:chgData name="EL-ARBI EL-ALAOUY" userId="328fd111-a4b5-4d61-919a-b1b69a7c4cc8" providerId="ADAL" clId="{28B249C7-BD6E-43CE-AFB5-5B458D3A4E24}" dt="2024-09-30T23:38:39.282" v="21"/>
        <pc:sldMkLst>
          <pc:docMk/>
          <pc:sldMk cId="0" sldId="418"/>
        </pc:sldMkLst>
      </pc:sldChg>
      <pc:sldChg chg="del ord">
        <pc:chgData name="EL-ARBI EL-ALAOUY" userId="328fd111-a4b5-4d61-919a-b1b69a7c4cc8" providerId="ADAL" clId="{28B249C7-BD6E-43CE-AFB5-5B458D3A4E24}" dt="2024-09-30T23:13:47.023" v="6" actId="47"/>
        <pc:sldMkLst>
          <pc:docMk/>
          <pc:sldMk cId="0" sldId="432"/>
        </pc:sldMkLst>
      </pc:sldChg>
      <pc:sldChg chg="new">
        <pc:chgData name="EL-ARBI EL-ALAOUY" userId="328fd111-a4b5-4d61-919a-b1b69a7c4cc8" providerId="ADAL" clId="{28B249C7-BD6E-43CE-AFB5-5B458D3A4E24}" dt="2024-09-30T23:25:16.291" v="8" actId="680"/>
        <pc:sldMkLst>
          <pc:docMk/>
          <pc:sldMk cId="857494664" sldId="43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3"/>
        </pc:sldMkLst>
      </pc:sldChg>
      <pc:sldChg chg="modSp new mod">
        <pc:chgData name="EL-ARBI EL-ALAOUY" userId="328fd111-a4b5-4d61-919a-b1b69a7c4cc8" providerId="ADAL" clId="{28B249C7-BD6E-43CE-AFB5-5B458D3A4E24}" dt="2024-09-30T23:34:29.338" v="19" actId="20577"/>
        <pc:sldMkLst>
          <pc:docMk/>
          <pc:sldMk cId="1502092728" sldId="433"/>
        </pc:sldMkLst>
        <pc:spChg chg="mod">
          <ac:chgData name="EL-ARBI EL-ALAOUY" userId="328fd111-a4b5-4d61-919a-b1b69a7c4cc8" providerId="ADAL" clId="{28B249C7-BD6E-43CE-AFB5-5B458D3A4E24}" dt="2024-09-30T23:34:29.338" v="19" actId="20577"/>
          <ac:spMkLst>
            <pc:docMk/>
            <pc:sldMk cId="1502092728" sldId="433"/>
            <ac:spMk id="3" creationId="{7009A4C7-B0DC-BE3E-B6EA-0EAE28E4D901}"/>
          </ac:spMkLst>
        </pc:spChg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3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4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5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6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7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8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3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4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5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6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7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8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499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0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1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2"/>
        </pc:sldMkLst>
      </pc:sldChg>
      <pc:sldChg chg="del">
        <pc:chgData name="EL-ARBI EL-ALAOUY" userId="328fd111-a4b5-4d61-919a-b1b69a7c4cc8" providerId="ADAL" clId="{28B249C7-BD6E-43CE-AFB5-5B458D3A4E24}" dt="2024-09-30T23:12:57.894" v="2" actId="47"/>
        <pc:sldMkLst>
          <pc:docMk/>
          <pc:sldMk cId="0" sldId="50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0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1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2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3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4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5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6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7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3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4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5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6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7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8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89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0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1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2"/>
        </pc:sldMkLst>
      </pc:sldChg>
      <pc:sldChg chg="del">
        <pc:chgData name="EL-ARBI EL-ALAOUY" userId="328fd111-a4b5-4d61-919a-b1b69a7c4cc8" providerId="ADAL" clId="{28B249C7-BD6E-43CE-AFB5-5B458D3A4E24}" dt="2024-09-30T23:13:14.264" v="3" actId="47"/>
        <pc:sldMkLst>
          <pc:docMk/>
          <pc:sldMk cId="0" sldId="593"/>
        </pc:sldMkLst>
      </pc:sldChg>
      <pc:sldChg chg="del">
        <pc:chgData name="EL-ARBI EL-ALAOUY" userId="328fd111-a4b5-4d61-919a-b1b69a7c4cc8" providerId="ADAL" clId="{28B249C7-BD6E-43CE-AFB5-5B458D3A4E24}" dt="2024-09-30T23:13:16.972" v="4" actId="47"/>
        <pc:sldMkLst>
          <pc:docMk/>
          <pc:sldMk cId="0" sldId="594"/>
        </pc:sldMkLst>
      </pc:sldChg>
      <pc:sldChg chg="del">
        <pc:chgData name="EL-ARBI EL-ALAOUY" userId="328fd111-a4b5-4d61-919a-b1b69a7c4cc8" providerId="ADAL" clId="{28B249C7-BD6E-43CE-AFB5-5B458D3A4E24}" dt="2024-09-30T23:13:17.634" v="5" actId="47"/>
        <pc:sldMkLst>
          <pc:docMk/>
          <pc:sldMk cId="0" sldId="595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0-01T00:33:46.481" idx="1">
    <p:pos x="1045" y="2847"/>
    <p:text>detaille ce point</p:text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7" y="17"/>
            <a:ext cx="12187046" cy="68552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6790" y="1465478"/>
            <a:ext cx="11118850" cy="5146675"/>
          </a:xfrm>
          <a:custGeom>
            <a:avLst/>
            <a:gdLst/>
            <a:ahLst/>
            <a:cxnLst/>
            <a:rect l="l" t="t" r="r" b="b"/>
            <a:pathLst>
              <a:path w="11118850" h="5146675">
                <a:moveTo>
                  <a:pt x="11118469" y="0"/>
                </a:moveTo>
                <a:lnTo>
                  <a:pt x="0" y="0"/>
                </a:lnTo>
                <a:lnTo>
                  <a:pt x="0" y="5146294"/>
                </a:lnTo>
                <a:lnTo>
                  <a:pt x="11118469" y="5146294"/>
                </a:lnTo>
                <a:lnTo>
                  <a:pt x="11118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790" y="1465478"/>
            <a:ext cx="11118850" cy="5146675"/>
          </a:xfrm>
          <a:custGeom>
            <a:avLst/>
            <a:gdLst/>
            <a:ahLst/>
            <a:cxnLst/>
            <a:rect l="l" t="t" r="r" b="b"/>
            <a:pathLst>
              <a:path w="11118850" h="5146675">
                <a:moveTo>
                  <a:pt x="0" y="5146294"/>
                </a:moveTo>
                <a:lnTo>
                  <a:pt x="11118469" y="5146294"/>
                </a:lnTo>
                <a:lnTo>
                  <a:pt x="11118469" y="0"/>
                </a:lnTo>
                <a:lnTo>
                  <a:pt x="0" y="0"/>
                </a:lnTo>
                <a:lnTo>
                  <a:pt x="0" y="5146294"/>
                </a:lnTo>
                <a:close/>
              </a:path>
            </a:pathLst>
          </a:custGeom>
          <a:ln w="9525">
            <a:solidFill>
              <a:srgbClr val="FF78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60150"/>
            <a:ext cx="537210" cy="1346200"/>
          </a:xfrm>
          <a:custGeom>
            <a:avLst/>
            <a:gdLst/>
            <a:ahLst/>
            <a:cxnLst/>
            <a:rect l="l" t="t" r="r" b="b"/>
            <a:pathLst>
              <a:path w="537210" h="1346200">
                <a:moveTo>
                  <a:pt x="536790" y="0"/>
                </a:moveTo>
                <a:lnTo>
                  <a:pt x="0" y="0"/>
                </a:lnTo>
                <a:lnTo>
                  <a:pt x="0" y="1077226"/>
                </a:lnTo>
                <a:lnTo>
                  <a:pt x="0" y="1080008"/>
                </a:lnTo>
                <a:lnTo>
                  <a:pt x="241" y="1080008"/>
                </a:lnTo>
                <a:lnTo>
                  <a:pt x="4318" y="1125474"/>
                </a:lnTo>
                <a:lnTo>
                  <a:pt x="16789" y="1170889"/>
                </a:lnTo>
                <a:lnTo>
                  <a:pt x="36639" y="1212697"/>
                </a:lnTo>
                <a:lnTo>
                  <a:pt x="63119" y="1250149"/>
                </a:lnTo>
                <a:lnTo>
                  <a:pt x="95465" y="1282496"/>
                </a:lnTo>
                <a:lnTo>
                  <a:pt x="132918" y="1308976"/>
                </a:lnTo>
                <a:lnTo>
                  <a:pt x="174739" y="1328826"/>
                </a:lnTo>
                <a:lnTo>
                  <a:pt x="220141" y="1341297"/>
                </a:lnTo>
                <a:lnTo>
                  <a:pt x="268389" y="1345615"/>
                </a:lnTo>
                <a:lnTo>
                  <a:pt x="536790" y="1345615"/>
                </a:lnTo>
                <a:lnTo>
                  <a:pt x="536790" y="1080008"/>
                </a:lnTo>
                <a:lnTo>
                  <a:pt x="536790" y="1077226"/>
                </a:lnTo>
                <a:lnTo>
                  <a:pt x="536790" y="0"/>
                </a:lnTo>
                <a:close/>
              </a:path>
            </a:pathLst>
          </a:custGeom>
          <a:solidFill>
            <a:srgbClr val="FF7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98982" y="1599692"/>
            <a:ext cx="5156200" cy="4392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175628" y="1950318"/>
            <a:ext cx="5334634" cy="4490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 u="sng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2811"/>
            <a:ext cx="12191998" cy="68496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36790" y="1464030"/>
            <a:ext cx="11118850" cy="5152390"/>
          </a:xfrm>
          <a:custGeom>
            <a:avLst/>
            <a:gdLst/>
            <a:ahLst/>
            <a:cxnLst/>
            <a:rect l="l" t="t" r="r" b="b"/>
            <a:pathLst>
              <a:path w="11118850" h="5152390">
                <a:moveTo>
                  <a:pt x="11118469" y="0"/>
                </a:moveTo>
                <a:lnTo>
                  <a:pt x="0" y="0"/>
                </a:lnTo>
                <a:lnTo>
                  <a:pt x="0" y="5152390"/>
                </a:lnTo>
                <a:lnTo>
                  <a:pt x="11118469" y="5152390"/>
                </a:lnTo>
                <a:lnTo>
                  <a:pt x="1111846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36790" y="1464030"/>
            <a:ext cx="11118850" cy="5152390"/>
          </a:xfrm>
          <a:custGeom>
            <a:avLst/>
            <a:gdLst/>
            <a:ahLst/>
            <a:cxnLst/>
            <a:rect l="l" t="t" r="r" b="b"/>
            <a:pathLst>
              <a:path w="11118850" h="5152390">
                <a:moveTo>
                  <a:pt x="0" y="5152390"/>
                </a:moveTo>
                <a:lnTo>
                  <a:pt x="11118469" y="5152390"/>
                </a:lnTo>
                <a:lnTo>
                  <a:pt x="11118469" y="0"/>
                </a:lnTo>
                <a:lnTo>
                  <a:pt x="0" y="0"/>
                </a:lnTo>
                <a:lnTo>
                  <a:pt x="0" y="5152390"/>
                </a:lnTo>
                <a:close/>
              </a:path>
            </a:pathLst>
          </a:custGeom>
          <a:ln w="9525">
            <a:solidFill>
              <a:srgbClr val="C5DFB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60149"/>
            <a:ext cx="537210" cy="1346200"/>
          </a:xfrm>
          <a:custGeom>
            <a:avLst/>
            <a:gdLst/>
            <a:ahLst/>
            <a:cxnLst/>
            <a:rect l="l" t="t" r="r" b="b"/>
            <a:pathLst>
              <a:path w="537210" h="1346200">
                <a:moveTo>
                  <a:pt x="536790" y="0"/>
                </a:moveTo>
                <a:lnTo>
                  <a:pt x="0" y="0"/>
                </a:lnTo>
                <a:lnTo>
                  <a:pt x="0" y="1077226"/>
                </a:lnTo>
                <a:lnTo>
                  <a:pt x="0" y="1080008"/>
                </a:lnTo>
                <a:lnTo>
                  <a:pt x="241" y="1080008"/>
                </a:lnTo>
                <a:lnTo>
                  <a:pt x="4318" y="1125474"/>
                </a:lnTo>
                <a:lnTo>
                  <a:pt x="16789" y="1170889"/>
                </a:lnTo>
                <a:lnTo>
                  <a:pt x="36639" y="1212697"/>
                </a:lnTo>
                <a:lnTo>
                  <a:pt x="63119" y="1250149"/>
                </a:lnTo>
                <a:lnTo>
                  <a:pt x="95465" y="1282496"/>
                </a:lnTo>
                <a:lnTo>
                  <a:pt x="132918" y="1308976"/>
                </a:lnTo>
                <a:lnTo>
                  <a:pt x="174739" y="1328826"/>
                </a:lnTo>
                <a:lnTo>
                  <a:pt x="220141" y="1341297"/>
                </a:lnTo>
                <a:lnTo>
                  <a:pt x="268389" y="1345615"/>
                </a:lnTo>
                <a:lnTo>
                  <a:pt x="536790" y="1345615"/>
                </a:lnTo>
                <a:lnTo>
                  <a:pt x="536790" y="1080008"/>
                </a:lnTo>
                <a:lnTo>
                  <a:pt x="536790" y="1077226"/>
                </a:lnTo>
                <a:lnTo>
                  <a:pt x="536790" y="0"/>
                </a:lnTo>
                <a:close/>
              </a:path>
            </a:pathLst>
          </a:custGeom>
          <a:solidFill>
            <a:srgbClr val="0078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876" y="273557"/>
            <a:ext cx="4612005" cy="89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58A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8982" y="1599692"/>
            <a:ext cx="10589895" cy="4773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FF78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04638" y="6670573"/>
            <a:ext cx="1983104" cy="175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44273" y="6668744"/>
            <a:ext cx="281304" cy="1944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‹N°›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34" y="0"/>
            <a:ext cx="6483985" cy="6858000"/>
            <a:chOff x="4934" y="0"/>
            <a:chExt cx="648398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4" y="0"/>
              <a:ext cx="6483686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442" y="195745"/>
              <a:ext cx="1027201" cy="101481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379590" y="2358390"/>
            <a:ext cx="5457825" cy="2732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Ce</a:t>
            </a:r>
            <a:r>
              <a:rPr sz="18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que</a:t>
            </a:r>
            <a:r>
              <a:rPr sz="18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vous</a:t>
            </a:r>
            <a:r>
              <a:rPr sz="18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allez</a:t>
            </a:r>
            <a:r>
              <a:rPr sz="18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apprendre</a:t>
            </a:r>
            <a:r>
              <a:rPr sz="18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dans</a:t>
            </a:r>
            <a:r>
              <a:rPr sz="18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ce</a:t>
            </a:r>
            <a:r>
              <a:rPr sz="18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7842"/>
                </a:solidFill>
                <a:latin typeface="Calibri"/>
                <a:cs typeface="Calibri"/>
              </a:rPr>
              <a:t>chapitre</a:t>
            </a:r>
            <a:r>
              <a:rPr sz="18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7842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Introduire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son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rôle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statistique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Préparer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l'environnement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l'utilisation</a:t>
            </a:r>
            <a:r>
              <a:rPr sz="1600" spc="-7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Appliquer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syntaxe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principaux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opérateurs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Explorer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structures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fondamentales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Effectuer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premières</a:t>
            </a:r>
            <a:r>
              <a:rPr sz="1600" spc="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manipulations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données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Comparer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fonctions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base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avec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Adapter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dernières</a:t>
            </a:r>
            <a:r>
              <a:rPr sz="16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applications</a:t>
            </a:r>
            <a:r>
              <a:rPr sz="1600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(Python/Excel)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10017" y="6132982"/>
            <a:ext cx="2160270" cy="720090"/>
            <a:chOff x="8010017" y="6132982"/>
            <a:chExt cx="2160270" cy="720090"/>
          </a:xfrm>
        </p:grpSpPr>
        <p:sp>
          <p:nvSpPr>
            <p:cNvPr id="7" name="object 7"/>
            <p:cNvSpPr/>
            <p:nvPr/>
          </p:nvSpPr>
          <p:spPr>
            <a:xfrm>
              <a:off x="8010017" y="6132982"/>
              <a:ext cx="2160270" cy="720090"/>
            </a:xfrm>
            <a:custGeom>
              <a:avLst/>
              <a:gdLst/>
              <a:ahLst/>
              <a:cxnLst/>
              <a:rect l="l" t="t" r="r" b="b"/>
              <a:pathLst>
                <a:path w="2160270" h="720090">
                  <a:moveTo>
                    <a:pt x="2040001" y="0"/>
                  </a:moveTo>
                  <a:lnTo>
                    <a:pt x="120014" y="0"/>
                  </a:lnTo>
                  <a:lnTo>
                    <a:pt x="73294" y="9431"/>
                  </a:lnTo>
                  <a:lnTo>
                    <a:pt x="35147" y="35150"/>
                  </a:lnTo>
                  <a:lnTo>
                    <a:pt x="9429" y="73294"/>
                  </a:lnTo>
                  <a:lnTo>
                    <a:pt x="0" y="120002"/>
                  </a:lnTo>
                  <a:lnTo>
                    <a:pt x="0" y="720003"/>
                  </a:lnTo>
                  <a:lnTo>
                    <a:pt x="2160015" y="720003"/>
                  </a:lnTo>
                  <a:lnTo>
                    <a:pt x="2160015" y="120002"/>
                  </a:lnTo>
                  <a:lnTo>
                    <a:pt x="2150586" y="73294"/>
                  </a:lnTo>
                  <a:lnTo>
                    <a:pt x="2124868" y="35150"/>
                  </a:lnTo>
                  <a:lnTo>
                    <a:pt x="2086721" y="9431"/>
                  </a:lnTo>
                  <a:lnTo>
                    <a:pt x="2040001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86420" y="6268948"/>
              <a:ext cx="401662" cy="39599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695435" y="6260693"/>
            <a:ext cx="1262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 heures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8216900" y="561212"/>
            <a:ext cx="174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13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11" name="object 11"/>
          <p:cNvSpPr txBox="1"/>
          <p:nvPr/>
        </p:nvSpPr>
        <p:spPr>
          <a:xfrm>
            <a:off x="7332726" y="1103503"/>
            <a:ext cx="35153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VULGARISER</a:t>
            </a:r>
            <a:r>
              <a:rPr sz="24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LANGAGE</a:t>
            </a:r>
            <a:r>
              <a:rPr sz="24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67" y="0"/>
            <a:ext cx="6490335" cy="6858000"/>
            <a:chOff x="2467" y="0"/>
            <a:chExt cx="649033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67" y="0"/>
              <a:ext cx="6490030" cy="685799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442" y="195745"/>
              <a:ext cx="1027201" cy="101481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216900" y="561212"/>
            <a:ext cx="17475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7842"/>
                </a:solidFill>
              </a:rPr>
              <a:t>CHAPITRE</a:t>
            </a:r>
            <a:r>
              <a:rPr sz="2800" spc="-130" dirty="0">
                <a:solidFill>
                  <a:srgbClr val="007842"/>
                </a:solidFill>
              </a:rPr>
              <a:t> </a:t>
            </a:r>
            <a:r>
              <a:rPr sz="2800" spc="-50" dirty="0">
                <a:solidFill>
                  <a:srgbClr val="007842"/>
                </a:solidFill>
              </a:rPr>
              <a:t>4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7337552" y="1103503"/>
            <a:ext cx="3505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VULGARISER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LE</a:t>
            </a:r>
            <a:r>
              <a:rPr sz="24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842"/>
                </a:solidFill>
                <a:latin typeface="Calibri"/>
                <a:cs typeface="Calibri"/>
              </a:rPr>
              <a:t>LANGAGE</a:t>
            </a:r>
            <a:r>
              <a:rPr sz="24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9590" y="2462529"/>
            <a:ext cx="4838065" cy="330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Introduction à R et son rôle en statistique</a:t>
            </a: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Préparation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l’environnement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650" dirty="0">
              <a:latin typeface="Calibri"/>
              <a:cs typeface="Calibri"/>
            </a:endParaRPr>
          </a:p>
          <a:p>
            <a:pPr marL="355600" indent="-342900"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Syntaxe de base et principaux opérateurs en R</a:t>
            </a: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Structures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données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fondamentales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Premières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manipulations</a:t>
            </a:r>
            <a:r>
              <a:rPr sz="1600" spc="-5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données</a:t>
            </a:r>
            <a:r>
              <a:rPr sz="16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AutoNum type="arabicPeriod"/>
            </a:pPr>
            <a:endParaRPr sz="1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Comparaison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des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fonctions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base</a:t>
            </a:r>
            <a:r>
              <a:rPr sz="1600" spc="-4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avec</a:t>
            </a:r>
            <a:r>
              <a:rPr sz="1600" spc="-4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AutoNum type="arabicPeriod"/>
            </a:pPr>
            <a:endParaRPr sz="1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Reprise</a:t>
            </a:r>
            <a:r>
              <a:rPr sz="16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des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dernières</a:t>
            </a:r>
            <a:r>
              <a:rPr sz="16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applications</a:t>
            </a:r>
            <a:r>
              <a:rPr sz="1600" spc="-6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AEABAB"/>
                </a:solidFill>
                <a:latin typeface="Calibri"/>
                <a:cs typeface="Calibri"/>
              </a:rPr>
              <a:t>(Python/Excel)</a:t>
            </a:r>
            <a:r>
              <a:rPr sz="1600" spc="-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AEABAB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AEABAB"/>
                </a:solidFill>
                <a:latin typeface="Calibri"/>
                <a:cs typeface="Calibri"/>
              </a:rPr>
              <a:t>R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991867" y="345681"/>
            <a:ext cx="9663430" cy="5786755"/>
            <a:chOff x="1991867" y="345681"/>
            <a:chExt cx="9663430" cy="57867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1867" y="3531908"/>
              <a:ext cx="2297176" cy="2600325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1599692"/>
            <a:ext cx="4684395" cy="148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mathématiques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lnSpc>
                <a:spcPct val="150100"/>
              </a:lnSpc>
              <a:spcBef>
                <a:spcPts val="894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fonctions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mathématiques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base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peuvent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être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utilisées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divers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contextes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effectuer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calculs mathématiques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5859653" y="1717801"/>
          <a:ext cx="5499735" cy="45662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9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7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5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Fonction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0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Description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Exemple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d'Utilisation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Sortie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Attendue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sqrt()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Racine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carrée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sqrt(25)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exp()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Exponentielle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exp(2)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7.389056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log()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Logarithme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népérien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log(10)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2.302585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log10()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Logarithme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base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log10(100)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abs()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Valeur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absolue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abs(-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7)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584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round()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Arrondi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round(3.14159,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digits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2)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3.14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floor()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Arrondi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inférieur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floor(5.9)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690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ceiling()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Arrondi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supérieur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ceiling(5.1)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sin()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Sinus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sin(pi/2)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cos()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Cosinus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cos(pi)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tan()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Tangente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tan(pi/4)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20955" marB="0">
                    <a:lnL w="12700">
                      <a:solidFill>
                        <a:srgbClr val="6FAC46"/>
                      </a:solidFill>
                      <a:prstDash val="solid"/>
                    </a:lnL>
                    <a:lnR w="12700">
                      <a:solidFill>
                        <a:srgbClr val="6FAC46"/>
                      </a:solidFill>
                      <a:prstDash val="solid"/>
                    </a:lnR>
                    <a:lnT w="12700">
                      <a:solidFill>
                        <a:srgbClr val="6FAC46"/>
                      </a:solidFill>
                      <a:prstDash val="solid"/>
                    </a:lnT>
                    <a:lnB w="12700">
                      <a:solidFill>
                        <a:srgbClr val="6FAC46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463288" y="345681"/>
            <a:ext cx="7192009" cy="5454015"/>
            <a:chOff x="4463288" y="345681"/>
            <a:chExt cx="7192009" cy="54540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8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5988" y="3852862"/>
              <a:ext cx="6872858" cy="19337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69638" y="3846512"/>
              <a:ext cx="6885940" cy="1946910"/>
            </a:xfrm>
            <a:custGeom>
              <a:avLst/>
              <a:gdLst/>
              <a:ahLst/>
              <a:cxnLst/>
              <a:rect l="l" t="t" r="r" b="b"/>
              <a:pathLst>
                <a:path w="6885940" h="1946910">
                  <a:moveTo>
                    <a:pt x="0" y="1946402"/>
                  </a:moveTo>
                  <a:lnTo>
                    <a:pt x="6885558" y="1946402"/>
                  </a:lnTo>
                  <a:lnTo>
                    <a:pt x="6885558" y="0"/>
                  </a:lnTo>
                  <a:lnTo>
                    <a:pt x="0" y="0"/>
                  </a:lnTo>
                  <a:lnTo>
                    <a:pt x="0" y="1946402"/>
                  </a:lnTo>
                  <a:close/>
                </a:path>
              </a:pathLst>
            </a:custGeom>
            <a:ln w="12699">
              <a:solidFill>
                <a:srgbClr val="5382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3" name="object 13"/>
          <p:cNvSpPr txBox="1"/>
          <p:nvPr/>
        </p:nvSpPr>
        <p:spPr>
          <a:xfrm>
            <a:off x="798982" y="1599692"/>
            <a:ext cx="9913620" cy="1769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Lire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depuis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l'entrée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utilisateur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R,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readline()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permet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lire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depuis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console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65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cat()</a:t>
            </a:r>
            <a:r>
              <a:rPr sz="1600" b="1" spc="9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R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utilisée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imprimer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du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texte</a:t>
            </a:r>
            <a:r>
              <a:rPr sz="16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console.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Elle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concatène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affiche</a:t>
            </a:r>
            <a:r>
              <a:rPr sz="16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arguments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fournis,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offrant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flexibilité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mise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forme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l'affichage</a:t>
            </a:r>
            <a:r>
              <a:rPr sz="16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résultats,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messages,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ou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variables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Cette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approche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utile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personnaliser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interactions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l'utilisateur,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comme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salutations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personnalisées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3191" y="3670503"/>
            <a:ext cx="3129280" cy="1200785"/>
          </a:xfrm>
          <a:prstGeom prst="rect">
            <a:avLst/>
          </a:prstGeom>
          <a:solidFill>
            <a:srgbClr val="F1F1F1"/>
          </a:solidFill>
          <a:ln w="9525">
            <a:solidFill>
              <a:srgbClr val="BE9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1440" marR="84455" algn="just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Afficher</a:t>
            </a:r>
            <a:r>
              <a:rPr sz="1800" spc="15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16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message,</a:t>
            </a:r>
            <a:r>
              <a:rPr sz="1800" spc="16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stocker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l'entrée</a:t>
            </a:r>
            <a:r>
              <a:rPr sz="1800" spc="8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800" spc="7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800" spc="7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variable</a:t>
            </a:r>
            <a:r>
              <a:rPr sz="1800" spc="8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et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attendre</a:t>
            </a:r>
            <a:r>
              <a:rPr sz="1800" spc="315" dirty="0">
                <a:solidFill>
                  <a:srgbClr val="374151"/>
                </a:solidFill>
                <a:latin typeface="Calibri"/>
                <a:cs typeface="Calibri"/>
              </a:rPr>
              <a:t>   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800" spc="315" dirty="0">
                <a:solidFill>
                  <a:srgbClr val="374151"/>
                </a:solidFill>
                <a:latin typeface="Calibri"/>
                <a:cs typeface="Calibri"/>
              </a:rPr>
              <a:t>   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l'utilisateur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saisisse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son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nom.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8428" y="4980432"/>
            <a:ext cx="3138805" cy="655955"/>
            <a:chOff x="838428" y="4980432"/>
            <a:chExt cx="3138805" cy="655955"/>
          </a:xfrm>
        </p:grpSpPr>
        <p:sp>
          <p:nvSpPr>
            <p:cNvPr id="16" name="object 16"/>
            <p:cNvSpPr/>
            <p:nvPr/>
          </p:nvSpPr>
          <p:spPr>
            <a:xfrm>
              <a:off x="843191" y="4985194"/>
              <a:ext cx="3129280" cy="646430"/>
            </a:xfrm>
            <a:custGeom>
              <a:avLst/>
              <a:gdLst/>
              <a:ahLst/>
              <a:cxnLst/>
              <a:rect l="l" t="t" r="r" b="b"/>
              <a:pathLst>
                <a:path w="3129279" h="646429">
                  <a:moveTo>
                    <a:pt x="3129153" y="0"/>
                  </a:moveTo>
                  <a:lnTo>
                    <a:pt x="0" y="0"/>
                  </a:lnTo>
                  <a:lnTo>
                    <a:pt x="0" y="646328"/>
                  </a:lnTo>
                  <a:lnTo>
                    <a:pt x="3129153" y="646328"/>
                  </a:lnTo>
                  <a:lnTo>
                    <a:pt x="3129153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3191" y="4985194"/>
              <a:ext cx="3129280" cy="646430"/>
            </a:xfrm>
            <a:custGeom>
              <a:avLst/>
              <a:gdLst/>
              <a:ahLst/>
              <a:cxnLst/>
              <a:rect l="l" t="t" r="r" b="b"/>
              <a:pathLst>
                <a:path w="3129279" h="646429">
                  <a:moveTo>
                    <a:pt x="0" y="646328"/>
                  </a:moveTo>
                  <a:lnTo>
                    <a:pt x="3129153" y="646328"/>
                  </a:lnTo>
                  <a:lnTo>
                    <a:pt x="3129153" y="0"/>
                  </a:lnTo>
                  <a:lnTo>
                    <a:pt x="0" y="0"/>
                  </a:lnTo>
                  <a:lnTo>
                    <a:pt x="0" y="646328"/>
                  </a:lnTo>
                  <a:close/>
                </a:path>
              </a:pathLst>
            </a:custGeom>
            <a:ln w="9525">
              <a:solidFill>
                <a:srgbClr val="BE9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34821" y="5004053"/>
            <a:ext cx="2957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  <a:tabLst>
                <a:tab pos="989965" algn="l"/>
                <a:tab pos="1567815" algn="l"/>
                <a:tab pos="2709545" algn="l"/>
              </a:tabLst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Affiche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	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message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	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salutation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incluant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nom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saisi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966083" y="4264278"/>
            <a:ext cx="7663815" cy="2346960"/>
            <a:chOff x="3966083" y="4264278"/>
            <a:chExt cx="7663815" cy="2346960"/>
          </a:xfrm>
        </p:grpSpPr>
        <p:sp>
          <p:nvSpPr>
            <p:cNvPr id="20" name="object 20"/>
            <p:cNvSpPr/>
            <p:nvPr/>
          </p:nvSpPr>
          <p:spPr>
            <a:xfrm>
              <a:off x="3972433" y="4270628"/>
              <a:ext cx="503555" cy="150495"/>
            </a:xfrm>
            <a:custGeom>
              <a:avLst/>
              <a:gdLst/>
              <a:ahLst/>
              <a:cxnLst/>
              <a:rect l="l" t="t" r="r" b="b"/>
              <a:pathLst>
                <a:path w="503554" h="150495">
                  <a:moveTo>
                    <a:pt x="428370" y="0"/>
                  </a:moveTo>
                  <a:lnTo>
                    <a:pt x="428370" y="37592"/>
                  </a:lnTo>
                  <a:lnTo>
                    <a:pt x="0" y="37592"/>
                  </a:lnTo>
                  <a:lnTo>
                    <a:pt x="0" y="112903"/>
                  </a:lnTo>
                  <a:lnTo>
                    <a:pt x="428370" y="112903"/>
                  </a:lnTo>
                  <a:lnTo>
                    <a:pt x="428370" y="150495"/>
                  </a:lnTo>
                  <a:lnTo>
                    <a:pt x="503554" y="75184"/>
                  </a:lnTo>
                  <a:lnTo>
                    <a:pt x="4283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72433" y="4270628"/>
              <a:ext cx="503555" cy="150495"/>
            </a:xfrm>
            <a:custGeom>
              <a:avLst/>
              <a:gdLst/>
              <a:ahLst/>
              <a:cxnLst/>
              <a:rect l="l" t="t" r="r" b="b"/>
              <a:pathLst>
                <a:path w="503554" h="150495">
                  <a:moveTo>
                    <a:pt x="0" y="37592"/>
                  </a:moveTo>
                  <a:lnTo>
                    <a:pt x="428370" y="37592"/>
                  </a:lnTo>
                  <a:lnTo>
                    <a:pt x="428370" y="0"/>
                  </a:lnTo>
                  <a:lnTo>
                    <a:pt x="503554" y="75184"/>
                  </a:lnTo>
                  <a:lnTo>
                    <a:pt x="428370" y="150495"/>
                  </a:lnTo>
                  <a:lnTo>
                    <a:pt x="428370" y="112903"/>
                  </a:lnTo>
                  <a:lnTo>
                    <a:pt x="0" y="112903"/>
                  </a:lnTo>
                  <a:lnTo>
                    <a:pt x="0" y="37592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72433" y="5219445"/>
              <a:ext cx="503555" cy="150495"/>
            </a:xfrm>
            <a:custGeom>
              <a:avLst/>
              <a:gdLst/>
              <a:ahLst/>
              <a:cxnLst/>
              <a:rect l="l" t="t" r="r" b="b"/>
              <a:pathLst>
                <a:path w="503554" h="150495">
                  <a:moveTo>
                    <a:pt x="428370" y="0"/>
                  </a:moveTo>
                  <a:lnTo>
                    <a:pt x="428370" y="37591"/>
                  </a:lnTo>
                  <a:lnTo>
                    <a:pt x="0" y="37591"/>
                  </a:lnTo>
                  <a:lnTo>
                    <a:pt x="0" y="112775"/>
                  </a:lnTo>
                  <a:lnTo>
                    <a:pt x="428370" y="112775"/>
                  </a:lnTo>
                  <a:lnTo>
                    <a:pt x="428370" y="150367"/>
                  </a:lnTo>
                  <a:lnTo>
                    <a:pt x="503554" y="75183"/>
                  </a:lnTo>
                  <a:lnTo>
                    <a:pt x="4283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72433" y="5219445"/>
              <a:ext cx="503555" cy="150495"/>
            </a:xfrm>
            <a:custGeom>
              <a:avLst/>
              <a:gdLst/>
              <a:ahLst/>
              <a:cxnLst/>
              <a:rect l="l" t="t" r="r" b="b"/>
              <a:pathLst>
                <a:path w="503554" h="150495">
                  <a:moveTo>
                    <a:pt x="0" y="37591"/>
                  </a:moveTo>
                  <a:lnTo>
                    <a:pt x="428370" y="37591"/>
                  </a:lnTo>
                  <a:lnTo>
                    <a:pt x="428370" y="0"/>
                  </a:lnTo>
                  <a:lnTo>
                    <a:pt x="503554" y="75183"/>
                  </a:lnTo>
                  <a:lnTo>
                    <a:pt x="428370" y="150367"/>
                  </a:lnTo>
                  <a:lnTo>
                    <a:pt x="428370" y="112775"/>
                  </a:lnTo>
                  <a:lnTo>
                    <a:pt x="0" y="112775"/>
                  </a:lnTo>
                  <a:lnTo>
                    <a:pt x="0" y="37591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18777" y="5387174"/>
              <a:ext cx="2110867" cy="1223479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59401" y="345681"/>
            <a:ext cx="6796405" cy="6265545"/>
            <a:chOff x="4859401" y="345681"/>
            <a:chExt cx="6796405" cy="62655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18777" y="5387174"/>
              <a:ext cx="2110867" cy="12234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60183" y="2500122"/>
              <a:ext cx="3983481" cy="195465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9401" y="4947031"/>
              <a:ext cx="4425569" cy="1510919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798982" y="1599692"/>
            <a:ext cx="9918065" cy="2085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Lire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depuis</a:t>
            </a:r>
            <a:r>
              <a:rPr sz="1600" b="1" spc="-1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l'entrée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utilisateur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commande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scan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()</a:t>
            </a:r>
            <a:r>
              <a:rPr sz="16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lit</a:t>
            </a:r>
            <a:r>
              <a:rPr sz="16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valeurs</a:t>
            </a:r>
            <a:r>
              <a:rPr sz="1600" spc="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6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vous</a:t>
            </a:r>
            <a:r>
              <a:rPr sz="16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lui</a:t>
            </a:r>
            <a:r>
              <a:rPr sz="16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entrez</a:t>
            </a:r>
            <a:r>
              <a:rPr sz="16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console</a:t>
            </a:r>
            <a:r>
              <a:rPr sz="1600" spc="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R.</a:t>
            </a:r>
            <a:r>
              <a:rPr sz="1600" spc="4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C'est</a:t>
            </a:r>
            <a:r>
              <a:rPr sz="1600" spc="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comme</a:t>
            </a:r>
            <a:r>
              <a:rPr sz="16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petite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boîte</a:t>
            </a:r>
            <a:r>
              <a:rPr sz="1600" spc="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qui</a:t>
            </a:r>
            <a:r>
              <a:rPr sz="1600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attend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vos</a:t>
            </a:r>
            <a:r>
              <a:rPr sz="16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données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!</a:t>
            </a:r>
            <a:endParaRPr sz="16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contrôler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564515" lvl="1" indent="-287020">
              <a:lnSpc>
                <a:spcPct val="100000"/>
              </a:lnSpc>
              <a:spcBef>
                <a:spcPts val="1235"/>
              </a:spcBef>
              <a:buFont typeface="Courier New"/>
              <a:buChar char="o"/>
              <a:tabLst>
                <a:tab pos="565150" algn="l"/>
              </a:tabLst>
            </a:pP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Tapez</a:t>
            </a:r>
            <a:r>
              <a:rPr sz="16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deux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fois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Entrer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quand</a:t>
            </a:r>
            <a:r>
              <a:rPr sz="16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vous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avez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fini</a:t>
            </a:r>
            <a:r>
              <a:rPr sz="1600" spc="-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d'entrer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valeurs.</a:t>
            </a:r>
            <a:endParaRPr sz="1600">
              <a:latin typeface="Calibri"/>
              <a:cs typeface="Calibri"/>
            </a:endParaRPr>
          </a:p>
          <a:p>
            <a:pPr marL="564515" lvl="1" indent="-287020">
              <a:lnSpc>
                <a:spcPct val="100000"/>
              </a:lnSpc>
              <a:buFont typeface="Courier New"/>
              <a:buChar char="o"/>
              <a:tabLst>
                <a:tab pos="565150" algn="l"/>
              </a:tabLst>
            </a:pP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Donnez-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lui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nombre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 d'entrées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précis</a:t>
            </a:r>
            <a:r>
              <a:rPr sz="16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scan(nmax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=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5).</a:t>
            </a:r>
            <a:endParaRPr sz="1600">
              <a:latin typeface="Calibri"/>
              <a:cs typeface="Calibri"/>
            </a:endParaRPr>
          </a:p>
          <a:p>
            <a:pPr marL="564515" lvl="1" indent="-287020">
              <a:lnSpc>
                <a:spcPct val="100000"/>
              </a:lnSpc>
              <a:buFont typeface="Courier New"/>
              <a:buChar char="o"/>
              <a:tabLst>
                <a:tab pos="56515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Cachez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ses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messages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scan(quiet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=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TRUE)personnalisées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1382" y="4561713"/>
            <a:ext cx="6715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commande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paste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()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permet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coller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bout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bout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différents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morceaux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texte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73413" y="345681"/>
            <a:ext cx="8982075" cy="4438650"/>
            <a:chOff x="2673413" y="345681"/>
            <a:chExt cx="8982075" cy="44386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8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83002" y="3429000"/>
              <a:ext cx="6820661" cy="13458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78176" y="3424174"/>
              <a:ext cx="6830695" cy="1355725"/>
            </a:xfrm>
            <a:custGeom>
              <a:avLst/>
              <a:gdLst/>
              <a:ahLst/>
              <a:cxnLst/>
              <a:rect l="l" t="t" r="r" b="b"/>
              <a:pathLst>
                <a:path w="6830695" h="1355725">
                  <a:moveTo>
                    <a:pt x="0" y="1355344"/>
                  </a:moveTo>
                  <a:lnTo>
                    <a:pt x="6830186" y="1355344"/>
                  </a:lnTo>
                  <a:lnTo>
                    <a:pt x="6830186" y="0"/>
                  </a:lnTo>
                  <a:lnTo>
                    <a:pt x="0" y="0"/>
                  </a:lnTo>
                  <a:lnTo>
                    <a:pt x="0" y="1355344"/>
                  </a:lnTo>
                  <a:close/>
                </a:path>
              </a:pathLst>
            </a:custGeom>
            <a:ln w="9525">
              <a:solidFill>
                <a:srgbClr val="0078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98982" y="4845151"/>
            <a:ext cx="1058862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715" indent="-28702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R,</a:t>
            </a:r>
            <a:r>
              <a:rPr sz="1400" spc="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accolades</a:t>
            </a:r>
            <a:r>
              <a:rPr sz="14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{</a:t>
            </a:r>
            <a:r>
              <a:rPr sz="1400" b="1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}</a:t>
            </a:r>
            <a:r>
              <a:rPr sz="1400" b="1" spc="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sont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utilisées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définir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portée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«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scope</a:t>
            </a:r>
            <a:r>
              <a:rPr sz="1400" spc="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»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code,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</a:t>
            </a:r>
            <a:r>
              <a:rPr sz="1400" spc="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qui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E9000"/>
                </a:solidFill>
                <a:latin typeface="Calibri"/>
                <a:cs typeface="Calibri"/>
              </a:rPr>
              <a:t>diffère</a:t>
            </a:r>
            <a:r>
              <a:rPr sz="1400" b="1" spc="6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E9000"/>
                </a:solidFill>
                <a:latin typeface="Calibri"/>
                <a:cs typeface="Calibri"/>
              </a:rPr>
              <a:t>de</a:t>
            </a:r>
            <a:r>
              <a:rPr sz="1400" b="1" spc="7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BE9000"/>
                </a:solidFill>
                <a:latin typeface="Calibri"/>
                <a:cs typeface="Calibri"/>
              </a:rPr>
              <a:t>Python</a:t>
            </a:r>
            <a:r>
              <a:rPr sz="1400" b="1" spc="80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mais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ressemble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plupart</a:t>
            </a:r>
            <a:r>
              <a:rPr sz="14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des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langages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programmation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tels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C,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Java,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C#,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PHP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Javascript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5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ces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langages,</a:t>
            </a:r>
            <a:r>
              <a:rPr sz="14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ainsi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R,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l'espacement</a:t>
            </a:r>
            <a:r>
              <a:rPr sz="1400" spc="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simplement</a:t>
            </a:r>
            <a:r>
              <a:rPr sz="14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utilisé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comme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bonne</a:t>
            </a:r>
            <a:r>
              <a:rPr sz="14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pratique</a:t>
            </a:r>
            <a:r>
              <a:rPr sz="14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organiser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4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code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manière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claire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lisible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4" name="object 14"/>
          <p:cNvSpPr txBox="1"/>
          <p:nvPr/>
        </p:nvSpPr>
        <p:spPr>
          <a:xfrm>
            <a:off x="798982" y="1599692"/>
            <a:ext cx="10589895" cy="16706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Conditions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instructions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conditionnelles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 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Les</a:t>
            </a:r>
            <a:r>
              <a:rPr sz="14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instructions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conditionnelles</a:t>
            </a:r>
            <a:r>
              <a:rPr sz="1400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permettent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d'orienter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l'exécution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du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4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certaines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conditions</a:t>
            </a:r>
            <a:endParaRPr sz="14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L'utilisation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constructions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555555"/>
                </a:solidFill>
                <a:latin typeface="Calibri"/>
                <a:cs typeface="Calibri"/>
              </a:rPr>
              <a:t>if-</a:t>
            </a:r>
            <a:r>
              <a:rPr sz="1400" b="1" dirty="0">
                <a:solidFill>
                  <a:srgbClr val="555555"/>
                </a:solidFill>
                <a:latin typeface="Calibri"/>
                <a:cs typeface="Calibri"/>
              </a:rPr>
              <a:t>else</a:t>
            </a:r>
            <a:r>
              <a:rPr sz="1400" b="1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offre</a:t>
            </a:r>
            <a:r>
              <a:rPr sz="14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flexibilité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cruciale</a:t>
            </a:r>
            <a:r>
              <a:rPr sz="14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automatiser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décisions</a:t>
            </a:r>
            <a:r>
              <a:rPr sz="14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basées</a:t>
            </a:r>
            <a:r>
              <a:rPr sz="14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sur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des</a:t>
            </a:r>
            <a:r>
              <a:rPr sz="14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55555"/>
                </a:solidFill>
                <a:latin typeface="Calibri"/>
                <a:cs typeface="Calibri"/>
              </a:rPr>
              <a:t>critères</a:t>
            </a:r>
            <a:r>
              <a:rPr sz="14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55555"/>
                </a:solidFill>
                <a:latin typeface="Calibri"/>
                <a:cs typeface="Calibri"/>
              </a:rPr>
              <a:t>spécifiques</a:t>
            </a:r>
            <a:endParaRPr sz="1400">
              <a:latin typeface="Calibri"/>
              <a:cs typeface="Calibri"/>
            </a:endParaRPr>
          </a:p>
          <a:p>
            <a:pPr marL="299085" marR="5080" indent="-287020">
              <a:lnSpc>
                <a:spcPct val="150000"/>
              </a:lnSpc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1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instructions</a:t>
            </a:r>
            <a:r>
              <a:rPr sz="1400" spc="1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spc="-10" dirty="0">
                <a:solidFill>
                  <a:srgbClr val="374151"/>
                </a:solidFill>
                <a:latin typeface="Calibri"/>
                <a:cs typeface="Calibri"/>
              </a:rPr>
              <a:t>if-</a:t>
            </a:r>
            <a:r>
              <a:rPr sz="1400" b="1" dirty="0">
                <a:solidFill>
                  <a:srgbClr val="374151"/>
                </a:solidFill>
                <a:latin typeface="Calibri"/>
                <a:cs typeface="Calibri"/>
              </a:rPr>
              <a:t>else</a:t>
            </a:r>
            <a:r>
              <a:rPr sz="1400" b="1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sont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fondamentales</a:t>
            </a:r>
            <a:r>
              <a:rPr sz="1400" spc="1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programmation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conditionnelle</a:t>
            </a:r>
            <a:r>
              <a:rPr sz="1400" spc="1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1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R.</a:t>
            </a:r>
            <a:r>
              <a:rPr sz="1400" spc="1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Elles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permettent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d'exécuter</a:t>
            </a:r>
            <a:r>
              <a:rPr sz="1400" spc="1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différentes</a:t>
            </a:r>
            <a:r>
              <a:rPr sz="1400" spc="1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parties</a:t>
            </a:r>
            <a:r>
              <a:rPr sz="1400" spc="1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du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code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véracité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d'une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condition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419845" y="345681"/>
            <a:ext cx="3235960" cy="6254115"/>
            <a:chOff x="8419845" y="345681"/>
            <a:chExt cx="3235960" cy="625411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19845" y="4871821"/>
              <a:ext cx="816140" cy="17096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1792" y="4038269"/>
              <a:ext cx="951217" cy="256095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05899" y="4856988"/>
              <a:ext cx="1151381" cy="771906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14" name="object 14"/>
          <p:cNvSpPr txBox="1"/>
          <p:nvPr/>
        </p:nvSpPr>
        <p:spPr>
          <a:xfrm>
            <a:off x="798982" y="1599692"/>
            <a:ext cx="10233025" cy="1160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Instructions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conditionnelles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Exemple</a:t>
            </a:r>
            <a:r>
              <a:rPr sz="1800" b="1" u="sng" spc="-8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d'Application</a:t>
            </a:r>
            <a:endParaRPr sz="180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Supposons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nous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voulons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créer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instruction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conditionnelle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qui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imprime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message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différent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b="1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6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b="1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74151"/>
                </a:solidFill>
                <a:latin typeface="Calibri"/>
                <a:cs typeface="Calibri"/>
              </a:rPr>
              <a:t>l'âge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8821" y="5239956"/>
            <a:ext cx="3057525" cy="382270"/>
          </a:xfrm>
          <a:prstGeom prst="rect">
            <a:avLst/>
          </a:prstGeom>
          <a:solidFill>
            <a:srgbClr val="FFF1CC"/>
          </a:solidFill>
          <a:ln w="9525">
            <a:solidFill>
              <a:srgbClr val="FFD966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65"/>
              </a:spcBef>
            </a:pPr>
            <a:r>
              <a:rPr sz="1400" b="1" dirty="0">
                <a:latin typeface="Calibri"/>
                <a:cs typeface="Calibri"/>
              </a:rPr>
              <a:t>Sortie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Attendue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: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Vous</a:t>
            </a:r>
            <a:r>
              <a:rPr sz="1400" spc="-30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A67C"/>
                </a:solidFill>
                <a:latin typeface="Calibri"/>
                <a:cs typeface="Calibri"/>
              </a:rPr>
              <a:t>êtes</a:t>
            </a:r>
            <a:r>
              <a:rPr sz="1400" spc="-5" dirty="0">
                <a:solidFill>
                  <a:srgbClr val="00A67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A67C"/>
                </a:solidFill>
                <a:latin typeface="Calibri"/>
                <a:cs typeface="Calibri"/>
              </a:rPr>
              <a:t>majeur.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72329" y="3135249"/>
            <a:ext cx="61372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8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cet</a:t>
            </a:r>
            <a:r>
              <a:rPr sz="1800" spc="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exemple,</a:t>
            </a:r>
            <a:r>
              <a:rPr sz="1800" spc="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800" spc="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programme</a:t>
            </a:r>
            <a:r>
              <a:rPr sz="1800" spc="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imprime</a:t>
            </a:r>
            <a:r>
              <a:rPr sz="1800" spc="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"Vous</a:t>
            </a:r>
            <a:r>
              <a:rPr sz="1800" spc="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êtes</a:t>
            </a:r>
            <a:r>
              <a:rPr sz="1800" spc="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mineur"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si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l'âge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inférieur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18,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sinon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il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imprime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"Vous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êtes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majeur"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88821" y="3157854"/>
            <a:ext cx="3057525" cy="1998345"/>
          </a:xfrm>
          <a:prstGeom prst="rect">
            <a:avLst/>
          </a:prstGeom>
          <a:ln w="9525">
            <a:solidFill>
              <a:srgbClr val="A9D18E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860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age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&lt;-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onsolas"/>
                <a:cs typeface="Consolas"/>
              </a:rPr>
              <a:t>25</a:t>
            </a:r>
            <a:endParaRPr sz="14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400" spc="-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(age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&lt;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0000"/>
                </a:solidFill>
                <a:latin typeface="Consolas"/>
                <a:cs typeface="Consolas"/>
              </a:rPr>
              <a:t>18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)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54864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print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("Vous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êtes</a:t>
            </a:r>
            <a:r>
              <a:rPr sz="14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mineur.")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}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r>
              <a:rPr sz="1400" spc="2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400" spc="-50" dirty="0">
                <a:solidFill>
                  <a:srgbClr val="374151"/>
                </a:solidFill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548640">
              <a:lnSpc>
                <a:spcPct val="100000"/>
              </a:lnSpc>
              <a:spcBef>
                <a:spcPts val="844"/>
              </a:spcBef>
            </a:pP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print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("Vous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êtes</a:t>
            </a:r>
            <a:r>
              <a:rPr sz="14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majeur.")</a:t>
            </a:r>
            <a:endParaRPr sz="14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}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11410" y="4164838"/>
            <a:ext cx="3435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07842"/>
                </a:solidFill>
                <a:latin typeface="Calibri"/>
                <a:cs typeface="Calibri"/>
              </a:rPr>
              <a:t>?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908173" y="2436368"/>
            <a:ext cx="31089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d'utiliser</a:t>
            </a:r>
            <a:r>
              <a:rPr sz="1400" spc="12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114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conditions</a:t>
            </a:r>
            <a:r>
              <a:rPr sz="1400" spc="11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multiples</a:t>
            </a:r>
            <a:r>
              <a:rPr sz="1400" spc="114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950318"/>
            <a:ext cx="2023110" cy="180784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Conditions</a:t>
            </a:r>
            <a:r>
              <a:rPr sz="1600" b="1" u="sng" spc="-7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multiples</a:t>
            </a:r>
            <a:r>
              <a:rPr sz="1600" b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spcBef>
                <a:spcPts val="60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Il</a:t>
            </a:r>
            <a:r>
              <a:rPr sz="1400" spc="10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400" spc="11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également</a:t>
            </a:r>
            <a:r>
              <a:rPr sz="1400" spc="11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possible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l'instruction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00CD"/>
                </a:solidFill>
                <a:latin typeface="Consolas"/>
                <a:cs typeface="Consolas"/>
              </a:rPr>
              <a:t>if-</a:t>
            </a:r>
            <a:r>
              <a:rPr sz="1400" spc="-2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endParaRPr sz="1400">
              <a:latin typeface="Consolas"/>
              <a:cs typeface="Consolas"/>
            </a:endParaRPr>
          </a:p>
          <a:p>
            <a:pPr marL="12700" marR="518159">
              <a:lnSpc>
                <a:spcPct val="99700"/>
              </a:lnSpc>
              <a:spcBef>
                <a:spcPts val="260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Variables </a:t>
            </a:r>
            <a:r>
              <a:rPr sz="1600" spc="-10" dirty="0">
                <a:latin typeface="Calibri"/>
                <a:cs typeface="Calibri"/>
              </a:rPr>
              <a:t>temperature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&lt;-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-</a:t>
            </a:r>
            <a:r>
              <a:rPr sz="1600" spc="-50" dirty="0">
                <a:latin typeface="Calibri"/>
                <a:cs typeface="Calibri"/>
              </a:rPr>
              <a:t>5 </a:t>
            </a:r>
            <a:r>
              <a:rPr sz="1600" spc="-10" dirty="0">
                <a:latin typeface="Calibri"/>
                <a:cs typeface="Calibri"/>
              </a:rPr>
              <a:t>is_raining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&lt;-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TRUE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3734511"/>
            <a:ext cx="5189220" cy="2463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14"/>
              </a:lnSpc>
              <a:spcBef>
                <a:spcPts val="95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Prise</a:t>
            </a:r>
            <a:r>
              <a:rPr sz="16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décision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en</a:t>
            </a:r>
            <a:r>
              <a:rPr sz="16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fonction</a:t>
            </a:r>
            <a:r>
              <a:rPr sz="16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des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conditions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14"/>
              </a:lnSpc>
            </a:pPr>
            <a:r>
              <a:rPr sz="1400" spc="-1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400" spc="-40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alibri"/>
                <a:cs typeface="Calibri"/>
              </a:rPr>
              <a:t>(is_raining)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print("Il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pleut.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Prenez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parapluie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sortez.")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}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r>
              <a:rPr sz="1400" spc="-1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400" spc="-40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alibri"/>
                <a:cs typeface="Calibri"/>
              </a:rPr>
              <a:t>(temperature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10)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print("Il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fait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froid.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Portez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veste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chaude.")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}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r>
              <a:rPr sz="1400" spc="-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400" spc="-2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latin typeface="Calibri"/>
                <a:cs typeface="Calibri"/>
              </a:rPr>
              <a:t>(temperature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&lt;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print("Il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gèle.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recommandé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rester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à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l'intérieur.")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}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r>
              <a:rPr sz="1400" spc="-39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latin typeface="Calibri"/>
                <a:cs typeface="Calibri"/>
              </a:rPr>
              <a:t>{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print("Le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temps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clément.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Profitez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votre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journée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!")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}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3" name="object 13"/>
          <p:cNvSpPr txBox="1"/>
          <p:nvPr/>
        </p:nvSpPr>
        <p:spPr>
          <a:xfrm>
            <a:off x="798982" y="1599692"/>
            <a:ext cx="2779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Instructions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conditionnelles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/>
              <a:t>Instructions</a:t>
            </a:r>
            <a:r>
              <a:rPr spc="-80" dirty="0"/>
              <a:t> </a:t>
            </a:r>
            <a:r>
              <a:rPr dirty="0"/>
              <a:t>imbriquées</a:t>
            </a:r>
            <a:r>
              <a:rPr spc="-90" dirty="0"/>
              <a:t> </a:t>
            </a:r>
            <a:r>
              <a:rPr spc="-50" dirty="0"/>
              <a:t>:</a:t>
            </a:r>
          </a:p>
          <a:p>
            <a:pPr marL="12700" marR="5080">
              <a:lnSpc>
                <a:spcPct val="150000"/>
              </a:lnSpc>
              <a:spcBef>
                <a:spcPts val="60"/>
              </a:spcBef>
            </a:pP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Évaluer</a:t>
            </a:r>
            <a:r>
              <a:rPr sz="1400" b="0" u="none" spc="1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b="0" u="none" spc="1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conditions</a:t>
            </a:r>
            <a:r>
              <a:rPr sz="1400" b="0" u="none" spc="1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400" b="0" u="none" spc="1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l'intérieur</a:t>
            </a:r>
            <a:r>
              <a:rPr sz="1400" b="0" u="none" spc="1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d'une</a:t>
            </a:r>
            <a:r>
              <a:rPr sz="1400" b="0" u="none" spc="1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condition</a:t>
            </a:r>
            <a:r>
              <a:rPr sz="1400" b="0" u="none" spc="1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principale</a:t>
            </a:r>
            <a:r>
              <a:rPr sz="1400" b="0" u="none" spc="1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b="0" u="none" spc="1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spc="-25" dirty="0">
                <a:solidFill>
                  <a:srgbClr val="374151"/>
                </a:solidFill>
                <a:latin typeface="Calibri"/>
                <a:cs typeface="Calibri"/>
              </a:rPr>
              <a:t>des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décisions</a:t>
            </a:r>
            <a:r>
              <a:rPr sz="1400" b="0" u="none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dirty="0">
                <a:solidFill>
                  <a:srgbClr val="374151"/>
                </a:solidFill>
                <a:latin typeface="Calibri"/>
                <a:cs typeface="Calibri"/>
              </a:rPr>
              <a:t>plus</a:t>
            </a:r>
            <a:r>
              <a:rPr sz="1400" b="0" u="none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0" u="none" spc="-10" dirty="0">
                <a:solidFill>
                  <a:srgbClr val="374151"/>
                </a:solidFill>
                <a:latin typeface="Calibri"/>
                <a:cs typeface="Calibri"/>
              </a:rPr>
              <a:t>complexes.</a:t>
            </a:r>
            <a:endParaRPr sz="1400">
              <a:latin typeface="Calibri"/>
              <a:cs typeface="Calibri"/>
            </a:endParaRPr>
          </a:p>
          <a:p>
            <a:pPr marL="12700" marR="3312160">
              <a:lnSpc>
                <a:spcPct val="99700"/>
              </a:lnSpc>
              <a:spcBef>
                <a:spcPts val="260"/>
              </a:spcBef>
            </a:pPr>
            <a:r>
              <a:rPr b="0" u="none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b="0" u="none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b="0" u="none" dirty="0">
                <a:solidFill>
                  <a:srgbClr val="008000"/>
                </a:solidFill>
                <a:latin typeface="Consolas"/>
                <a:cs typeface="Consolas"/>
              </a:rPr>
              <a:t>Sample</a:t>
            </a:r>
            <a:r>
              <a:rPr b="0" u="none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b="0" u="none" spc="-10" dirty="0">
                <a:solidFill>
                  <a:srgbClr val="008000"/>
                </a:solidFill>
                <a:latin typeface="Consolas"/>
                <a:cs typeface="Consolas"/>
              </a:rPr>
              <a:t>variables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temperature</a:t>
            </a:r>
            <a:r>
              <a:rPr b="0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&lt;-</a:t>
            </a:r>
            <a:r>
              <a:rPr b="0" u="none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25" dirty="0">
                <a:solidFill>
                  <a:srgbClr val="000000"/>
                </a:solidFill>
                <a:latin typeface="Calibri"/>
                <a:cs typeface="Calibri"/>
              </a:rPr>
              <a:t>15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is_raining</a:t>
            </a:r>
            <a:r>
              <a:rPr b="0" u="none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&lt;-</a:t>
            </a:r>
            <a:r>
              <a:rPr b="0" u="none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20" dirty="0">
                <a:solidFill>
                  <a:srgbClr val="000000"/>
                </a:solidFill>
                <a:latin typeface="Calibri"/>
                <a:cs typeface="Calibri"/>
              </a:rPr>
              <a:t>TRUE</a:t>
            </a:r>
          </a:p>
          <a:p>
            <a:pPr marL="12700">
              <a:lnSpc>
                <a:spcPts val="1914"/>
              </a:lnSpc>
              <a:spcBef>
                <a:spcPts val="15"/>
              </a:spcBef>
            </a:pPr>
            <a:r>
              <a:rPr b="0" u="none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b="0" u="none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b="0" u="none" dirty="0">
                <a:solidFill>
                  <a:srgbClr val="008000"/>
                </a:solidFill>
                <a:latin typeface="Consolas"/>
                <a:cs typeface="Consolas"/>
              </a:rPr>
              <a:t>Nested</a:t>
            </a:r>
            <a:r>
              <a:rPr b="0" u="none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b="0" u="none" dirty="0">
                <a:solidFill>
                  <a:srgbClr val="008000"/>
                </a:solidFill>
                <a:latin typeface="Consolas"/>
                <a:cs typeface="Consolas"/>
              </a:rPr>
              <a:t>if</a:t>
            </a:r>
            <a:r>
              <a:rPr b="0" u="none" spc="-4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b="0" u="none" spc="-10" dirty="0">
                <a:solidFill>
                  <a:srgbClr val="008000"/>
                </a:solidFill>
                <a:latin typeface="Consolas"/>
                <a:cs typeface="Consolas"/>
              </a:rPr>
              <a:t>statements</a:t>
            </a:r>
          </a:p>
          <a:p>
            <a:pPr marL="12700">
              <a:lnSpc>
                <a:spcPts val="1914"/>
              </a:lnSpc>
            </a:pPr>
            <a:r>
              <a:rPr sz="1400" b="0" u="none" spc="-1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400" b="0" u="none" spc="-40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(temperature</a:t>
            </a:r>
            <a:r>
              <a:rPr b="0" u="none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&gt;</a:t>
            </a:r>
            <a:r>
              <a:rPr b="0" u="none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10)</a:t>
            </a:r>
            <a:r>
              <a:rPr b="0" u="none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561340">
              <a:lnSpc>
                <a:spcPct val="100000"/>
              </a:lnSpc>
            </a:pPr>
            <a:r>
              <a:rPr sz="1400" b="0" u="none" spc="-1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400" b="0" u="none" spc="-38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(is_raining)</a:t>
            </a:r>
            <a:r>
              <a:rPr b="0" u="none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print("Il</a:t>
            </a:r>
            <a:r>
              <a:rPr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pleut.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Prenez</a:t>
            </a:r>
            <a:r>
              <a:rPr b="0" u="none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un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parapluie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si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vous</a:t>
            </a:r>
            <a:r>
              <a:rPr b="0" u="none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sortez.")</a:t>
            </a:r>
          </a:p>
          <a:p>
            <a:pPr marL="561340">
              <a:lnSpc>
                <a:spcPct val="100000"/>
              </a:lnSpc>
            </a:pP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}</a:t>
            </a:r>
            <a:r>
              <a:rPr b="0" u="none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b="0" u="none" spc="-1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r>
              <a:rPr sz="1400" b="0" u="none" spc="-36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469900" marR="594360" indent="457200">
              <a:lnSpc>
                <a:spcPct val="100000"/>
              </a:lnSpc>
            </a:pP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print("</a:t>
            </a:r>
            <a:r>
              <a:rPr b="0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Le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temps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est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clément.</a:t>
            </a:r>
            <a:r>
              <a:rPr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Profitez</a:t>
            </a:r>
            <a:r>
              <a:rPr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de</a:t>
            </a:r>
            <a:r>
              <a:rPr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votre journée!")</a:t>
            </a:r>
          </a:p>
          <a:p>
            <a:pPr marL="561340">
              <a:lnSpc>
                <a:spcPct val="100000"/>
              </a:lnSpc>
            </a:pPr>
            <a:r>
              <a:rPr b="0" u="none" spc="-5" dirty="0">
                <a:solidFill>
                  <a:srgbClr val="000000"/>
                </a:solidFill>
                <a:latin typeface="Calibri"/>
                <a:cs typeface="Calibri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}</a:t>
            </a:r>
            <a:r>
              <a:rPr b="0" u="none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400" b="0" u="none" spc="-10" dirty="0">
                <a:solidFill>
                  <a:srgbClr val="0000CD"/>
                </a:solidFill>
                <a:latin typeface="Consolas"/>
                <a:cs typeface="Consolas"/>
              </a:rPr>
              <a:t>else</a:t>
            </a:r>
            <a:r>
              <a:rPr sz="1400" b="0" u="none" spc="-37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{</a:t>
            </a:r>
            <a:endParaRPr sz="1400">
              <a:latin typeface="Calibri"/>
              <a:cs typeface="Calibri"/>
            </a:endParaRPr>
          </a:p>
          <a:p>
            <a:pPr marL="561340">
              <a:lnSpc>
                <a:spcPct val="100000"/>
              </a:lnSpc>
            </a:pP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print("Il</a:t>
            </a:r>
            <a:r>
              <a:rPr b="0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fait</a:t>
            </a:r>
            <a:r>
              <a:rPr b="0" u="none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froid.</a:t>
            </a:r>
            <a:r>
              <a:rPr b="0" u="none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Portez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une</a:t>
            </a:r>
            <a:r>
              <a:rPr b="0" u="none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dirty="0">
                <a:solidFill>
                  <a:srgbClr val="000000"/>
                </a:solidFill>
                <a:latin typeface="Calibri"/>
                <a:cs typeface="Calibri"/>
              </a:rPr>
              <a:t>veste</a:t>
            </a:r>
            <a:r>
              <a:rPr b="0" u="none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0000"/>
                </a:solidFill>
                <a:latin typeface="Calibri"/>
                <a:cs typeface="Calibri"/>
              </a:rPr>
              <a:t>chaude.")</a:t>
            </a:r>
          </a:p>
          <a:p>
            <a:pPr marL="12700">
              <a:lnSpc>
                <a:spcPct val="100000"/>
              </a:lnSpc>
            </a:pPr>
            <a:r>
              <a:rPr b="0" u="none" spc="-5" dirty="0">
                <a:solidFill>
                  <a:srgbClr val="000000"/>
                </a:solidFill>
                <a:latin typeface="Calibri"/>
                <a:cs typeface="Calibri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599692"/>
            <a:ext cx="10588625" cy="211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Conditions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7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opérateurs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logiques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lnSpc>
                <a:spcPct val="150100"/>
              </a:lnSpc>
              <a:spcBef>
                <a:spcPts val="950"/>
              </a:spcBef>
            </a:pP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R,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opérateurs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logiques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4B083"/>
                </a:solidFill>
                <a:latin typeface="Calibri"/>
                <a:cs typeface="Calibri"/>
              </a:rPr>
              <a:t>ET (&amp;)</a:t>
            </a:r>
            <a:r>
              <a:rPr sz="1400" b="1" spc="-10" dirty="0">
                <a:solidFill>
                  <a:srgbClr val="F4B08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4B083"/>
                </a:solidFill>
                <a:latin typeface="Calibri"/>
                <a:cs typeface="Calibri"/>
              </a:rPr>
              <a:t>OU</a:t>
            </a:r>
            <a:r>
              <a:rPr sz="1400" b="1" spc="-5" dirty="0">
                <a:solidFill>
                  <a:srgbClr val="F4B083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F4B083"/>
                </a:solidFill>
                <a:latin typeface="Calibri"/>
                <a:cs typeface="Calibri"/>
              </a:rPr>
              <a:t>(|)</a:t>
            </a:r>
            <a:r>
              <a:rPr sz="1400" b="1" spc="-20" dirty="0">
                <a:solidFill>
                  <a:srgbClr val="F4B08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sont des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outils essentiels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gestion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conditions.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L'utilisation de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ces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opérateurs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au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sein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d'une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condition</a:t>
            </a:r>
            <a:r>
              <a:rPr sz="1400" spc="229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permet</a:t>
            </a:r>
            <a:r>
              <a:rPr sz="1400" spc="2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2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combiner</a:t>
            </a:r>
            <a:r>
              <a:rPr sz="1400" spc="2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astucieusement</a:t>
            </a:r>
            <a:r>
              <a:rPr sz="1400" spc="2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plusieurs</a:t>
            </a:r>
            <a:r>
              <a:rPr sz="1400" spc="2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critères</a:t>
            </a:r>
            <a:r>
              <a:rPr sz="1400" spc="2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400" spc="254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400" spc="2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seule</a:t>
            </a:r>
            <a:r>
              <a:rPr sz="1400" spc="254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déclaration,</a:t>
            </a:r>
            <a:r>
              <a:rPr sz="1400" spc="2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facilitant</a:t>
            </a:r>
            <a:r>
              <a:rPr sz="1400" spc="2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ainsi</a:t>
            </a:r>
            <a:r>
              <a:rPr sz="1400" spc="2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400" spc="2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mise</a:t>
            </a:r>
            <a:r>
              <a:rPr sz="1400" spc="2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2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place</a:t>
            </a:r>
            <a:r>
              <a:rPr sz="1400" spc="2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2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conditions complexes</a:t>
            </a:r>
            <a:r>
              <a:rPr sz="14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et la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prise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décisions</a:t>
            </a:r>
            <a:r>
              <a:rPr sz="14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fines</a:t>
            </a:r>
            <a:r>
              <a:rPr sz="14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4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74151"/>
                </a:solidFill>
                <a:latin typeface="Calibri"/>
                <a:cs typeface="Calibri"/>
              </a:rPr>
              <a:t>multiples</a:t>
            </a:r>
            <a:r>
              <a:rPr sz="14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facteurs</a:t>
            </a:r>
            <a:r>
              <a:rPr sz="14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74151"/>
                </a:solidFill>
                <a:latin typeface="Calibri"/>
                <a:cs typeface="Calibri"/>
              </a:rPr>
              <a:t>simultanément.</a:t>
            </a:r>
            <a:endParaRPr sz="14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05"/>
              </a:spcBef>
            </a:pP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Rappel</a:t>
            </a:r>
            <a:r>
              <a:rPr sz="1600" b="1" u="sng" spc="-1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et</a:t>
            </a:r>
            <a:r>
              <a:rPr sz="1600" b="1" u="sng" spc="-4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2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Syntaxe </a:t>
            </a: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en</a:t>
            </a:r>
            <a:r>
              <a:rPr sz="1600" b="1" u="sng" spc="-25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R</a:t>
            </a:r>
            <a:r>
              <a:rPr sz="1600" b="1" u="sng" spc="-3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50" dirty="0">
                <a:solidFill>
                  <a:srgbClr val="555555"/>
                </a:solidFill>
                <a:uFill>
                  <a:solidFill>
                    <a:srgbClr val="555555"/>
                  </a:solidFill>
                </a:u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35"/>
              </a:spcBef>
              <a:tabLst>
                <a:tab pos="5499100" algn="l"/>
              </a:tabLst>
            </a:pP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Tableau</a:t>
            </a:r>
            <a:r>
              <a:rPr sz="18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Vérité</a:t>
            </a:r>
            <a:r>
              <a:rPr sz="18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800" b="1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l'Opération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ET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(Logical</a:t>
            </a:r>
            <a:r>
              <a:rPr sz="1800" b="1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AND):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	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Tableau</a:t>
            </a:r>
            <a:r>
              <a:rPr sz="1800" b="1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800" b="1" spc="-5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Vérité</a:t>
            </a:r>
            <a:r>
              <a:rPr sz="18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800" b="1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555555"/>
                </a:solidFill>
                <a:latin typeface="Calibri"/>
                <a:cs typeface="Calibri"/>
              </a:rPr>
              <a:t>l'Opération</a:t>
            </a:r>
            <a:r>
              <a:rPr sz="1800" b="1" spc="-6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OU</a:t>
            </a:r>
            <a:r>
              <a:rPr sz="1800" b="1" spc="-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(Logical</a:t>
            </a:r>
            <a:r>
              <a:rPr sz="1800" b="1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55555"/>
                </a:solidFill>
                <a:latin typeface="Calibri"/>
                <a:cs typeface="Calibri"/>
              </a:rPr>
              <a:t>OR) </a:t>
            </a:r>
            <a:r>
              <a:rPr sz="1800" b="1" spc="-50" dirty="0">
                <a:solidFill>
                  <a:srgbClr val="555555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21715" y="4039996"/>
          <a:ext cx="4326254" cy="15233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405879" y="4061333"/>
          <a:ext cx="4326254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2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Input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Output</a:t>
                      </a:r>
                      <a:r>
                        <a:rPr sz="14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True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False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EC7C30"/>
                      </a:solidFill>
                      <a:prstDash val="solid"/>
                    </a:lnL>
                    <a:lnR w="12700">
                      <a:solidFill>
                        <a:srgbClr val="EC7C30"/>
                      </a:solidFill>
                      <a:prstDash val="solid"/>
                    </a:lnR>
                    <a:lnT w="12700">
                      <a:solidFill>
                        <a:srgbClr val="EC7C30"/>
                      </a:solidFill>
                      <a:prstDash val="solid"/>
                    </a:lnT>
                    <a:lnB w="12700">
                      <a:solidFill>
                        <a:srgbClr val="EC7C30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841959" y="5648959"/>
            <a:ext cx="46958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600" spc="-2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(a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&amp;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a)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</a:pPr>
            <a:r>
              <a:rPr sz="1600" dirty="0">
                <a:solidFill>
                  <a:srgbClr val="0000CD"/>
                </a:solidFill>
                <a:latin typeface="Consolas"/>
                <a:cs typeface="Consolas"/>
              </a:rPr>
              <a:t>print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“Les</a:t>
            </a:r>
            <a:r>
              <a:rPr sz="1600" spc="-9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deux</a:t>
            </a:r>
            <a:r>
              <a:rPr sz="1600" spc="-9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conditions</a:t>
            </a:r>
            <a:r>
              <a:rPr sz="1600" spc="-10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sont</a:t>
            </a:r>
            <a:r>
              <a:rPr sz="1600" spc="-9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A42A2A"/>
                </a:solidFill>
                <a:latin typeface="Consolas"/>
                <a:cs typeface="Consolas"/>
              </a:rPr>
              <a:t>vraies"</a:t>
            </a:r>
            <a:r>
              <a:rPr sz="1600" spc="-10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59271" y="5613603"/>
            <a:ext cx="55848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00CD"/>
                </a:solidFill>
                <a:latin typeface="Consolas"/>
                <a:cs typeface="Consolas"/>
              </a:rPr>
              <a:t>if</a:t>
            </a:r>
            <a:r>
              <a:rPr sz="1600" spc="-2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(a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b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|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a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&gt;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c)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</a:pPr>
            <a:r>
              <a:rPr sz="1600" dirty="0">
                <a:solidFill>
                  <a:srgbClr val="0000CD"/>
                </a:solidFill>
                <a:latin typeface="Consolas"/>
                <a:cs typeface="Consolas"/>
              </a:rPr>
              <a:t>print</a:t>
            </a:r>
            <a:r>
              <a:rPr sz="1600" dirty="0"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"</a:t>
            </a:r>
            <a:r>
              <a:rPr sz="1600" spc="-7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Au</a:t>
            </a:r>
            <a:r>
              <a:rPr sz="1600" spc="-7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moins</a:t>
            </a:r>
            <a:r>
              <a:rPr sz="1600" spc="-7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une</a:t>
            </a:r>
            <a:r>
              <a:rPr sz="1600" spc="-7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des</a:t>
            </a:r>
            <a:r>
              <a:rPr sz="1600" spc="-7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conditions</a:t>
            </a:r>
            <a:r>
              <a:rPr sz="1600" spc="-7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est</a:t>
            </a:r>
            <a:r>
              <a:rPr sz="1600" spc="-8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A42A2A"/>
                </a:solidFill>
                <a:latin typeface="Consolas"/>
                <a:cs typeface="Consolas"/>
              </a:rPr>
              <a:t>vraie</a:t>
            </a:r>
            <a:r>
              <a:rPr sz="1600" spc="-6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A42A2A"/>
                </a:solidFill>
                <a:latin typeface="Consolas"/>
                <a:cs typeface="Consolas"/>
              </a:rPr>
              <a:t>"</a:t>
            </a:r>
            <a:r>
              <a:rPr sz="1600" spc="-25" dirty="0"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88591" y="345681"/>
            <a:ext cx="9467215" cy="6008370"/>
            <a:chOff x="2188591" y="345681"/>
            <a:chExt cx="9467215" cy="600837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8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88591" y="5533491"/>
              <a:ext cx="710945" cy="5499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67623" y="5307596"/>
              <a:ext cx="1673859" cy="1046187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798982" y="1599692"/>
            <a:ext cx="10588625" cy="2396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Boucles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comparaison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avec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python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50100"/>
              </a:lnSpc>
              <a:spcBef>
                <a:spcPts val="894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600" spc="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boucles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sont</a:t>
            </a:r>
            <a:r>
              <a:rPr sz="1600" spc="10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structures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1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contrôle</a:t>
            </a:r>
            <a:r>
              <a:rPr sz="1600" spc="10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essentielles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programmation,</a:t>
            </a:r>
            <a:r>
              <a:rPr sz="1600" spc="10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permettant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d'exécuter</a:t>
            </a:r>
            <a:r>
              <a:rPr sz="1600" spc="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600" spc="10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blocs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code</a:t>
            </a:r>
            <a:r>
              <a:rPr sz="1600" spc="9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manière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répétée.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R,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nous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avons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principalement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deux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types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boucles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,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while,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boucle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repeat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Boucle</a:t>
            </a:r>
            <a:r>
              <a:rPr sz="1800" b="1" u="sng" spc="-4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for</a:t>
            </a:r>
            <a:r>
              <a:rPr sz="1800" b="1" u="sng" spc="-5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en</a:t>
            </a:r>
            <a:r>
              <a:rPr sz="1800" b="1" u="sng" spc="-2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R </a:t>
            </a:r>
            <a:r>
              <a:rPr sz="1800" b="1" u="sng" spc="-5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boucle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for</a:t>
            </a:r>
            <a:r>
              <a:rPr sz="1800" b="1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utilisée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itérer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sur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séquence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d'éléments.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Voici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exemple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4928" y="4125163"/>
            <a:ext cx="3462654" cy="120078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26034" rIns="0" bIns="0" rtlCol="0">
            <a:spAutoFit/>
          </a:bodyPr>
          <a:lstStyle/>
          <a:p>
            <a:pPr marL="91440" marR="248285">
              <a:lnSpc>
                <a:spcPts val="2090"/>
              </a:lnSpc>
              <a:spcBef>
                <a:spcPts val="204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Exemple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boucle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en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R </a:t>
            </a:r>
            <a:r>
              <a:rPr sz="1600" spc="-20" dirty="0">
                <a:solidFill>
                  <a:srgbClr val="0000CD"/>
                </a:solidFill>
                <a:latin typeface="Consolas"/>
                <a:cs typeface="Consolas"/>
              </a:rPr>
              <a:t>for</a:t>
            </a:r>
            <a:r>
              <a:rPr sz="1600" spc="-47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(i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1:5)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196215">
              <a:lnSpc>
                <a:spcPts val="2100"/>
              </a:lnSpc>
            </a:pPr>
            <a:r>
              <a:rPr sz="1800" spc="-10" dirty="0">
                <a:latin typeface="Calibri"/>
                <a:cs typeface="Calibri"/>
              </a:rPr>
              <a:t>print(i)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42530" y="4139400"/>
            <a:ext cx="3924300" cy="92392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26034" rIns="0" bIns="0" rtlCol="0">
            <a:spAutoFit/>
          </a:bodyPr>
          <a:lstStyle/>
          <a:p>
            <a:pPr marL="92075" marR="154940">
              <a:lnSpc>
                <a:spcPts val="2090"/>
              </a:lnSpc>
              <a:spcBef>
                <a:spcPts val="204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Exemple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boucle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en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Python </a:t>
            </a:r>
            <a:r>
              <a:rPr sz="1600" spc="-20" dirty="0">
                <a:solidFill>
                  <a:srgbClr val="0000CD"/>
                </a:solidFill>
                <a:latin typeface="Consolas"/>
                <a:cs typeface="Consolas"/>
              </a:rPr>
              <a:t>for</a:t>
            </a:r>
            <a:r>
              <a:rPr sz="1600" spc="-47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i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range(1,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6):</a:t>
            </a:r>
            <a:endParaRPr sz="1800">
              <a:latin typeface="Calibri"/>
              <a:cs typeface="Calibri"/>
            </a:endParaRPr>
          </a:p>
          <a:p>
            <a:pPr marL="300990">
              <a:lnSpc>
                <a:spcPts val="2100"/>
              </a:lnSpc>
            </a:pPr>
            <a:r>
              <a:rPr sz="1800" spc="-10" dirty="0">
                <a:latin typeface="Calibri"/>
                <a:cs typeface="Calibri"/>
              </a:rPr>
              <a:t>print(i)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71542" y="4154551"/>
            <a:ext cx="2805430" cy="235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Cela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affichera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nombres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1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5.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comparaison,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voici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la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même</a:t>
            </a:r>
            <a:r>
              <a:rPr sz="1800" b="1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b="1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Python</a:t>
            </a:r>
            <a:r>
              <a:rPr sz="18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77923" y="345681"/>
            <a:ext cx="9477375" cy="5323205"/>
            <a:chOff x="2177923" y="345681"/>
            <a:chExt cx="9477375" cy="532320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7923" y="4870259"/>
              <a:ext cx="710945" cy="54997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49081" y="4622088"/>
              <a:ext cx="1673859" cy="1046187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13" name="object 13"/>
          <p:cNvSpPr txBox="1"/>
          <p:nvPr/>
        </p:nvSpPr>
        <p:spPr>
          <a:xfrm>
            <a:off x="798982" y="1466726"/>
            <a:ext cx="7845425" cy="1374775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Boucles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comparaison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avec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Python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Boucle</a:t>
            </a:r>
            <a:r>
              <a:rPr sz="1800" b="1" u="sng" spc="-3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While</a:t>
            </a:r>
            <a:r>
              <a:rPr sz="1800" b="1" u="sng" spc="-15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en</a:t>
            </a:r>
            <a:r>
              <a:rPr sz="1800" b="1" u="sng" spc="-15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R</a:t>
            </a:r>
            <a:r>
              <a:rPr sz="1800" b="1" u="sng" spc="-1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5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while</a:t>
            </a:r>
            <a:r>
              <a:rPr sz="1800" b="1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continue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exécuter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bloc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tant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qu'une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condition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vraie.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Voici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exemple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7207" y="2981451"/>
            <a:ext cx="3549015" cy="175450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ts val="1905"/>
              </a:lnSpc>
              <a:spcBef>
                <a:spcPts val="275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Exemple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boucle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while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en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R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ts val="2145"/>
              </a:lnSpc>
            </a:pP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96215" marR="1276350" indent="-105410">
              <a:lnSpc>
                <a:spcPct val="100000"/>
              </a:lnSpc>
            </a:pPr>
            <a:r>
              <a:rPr sz="1600" spc="-20" dirty="0">
                <a:solidFill>
                  <a:srgbClr val="0000CD"/>
                </a:solidFill>
                <a:latin typeface="Consolas"/>
                <a:cs typeface="Consolas"/>
              </a:rPr>
              <a:t>while</a:t>
            </a:r>
            <a:r>
              <a:rPr sz="1600" spc="-47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(counter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&lt;=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5)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print(counter)</a:t>
            </a:r>
            <a:r>
              <a:rPr sz="1800" spc="5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1542" y="2999994"/>
            <a:ext cx="2805430" cy="235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Cela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affichera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les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nombres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1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5.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comparaison,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voici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la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même</a:t>
            </a:r>
            <a:r>
              <a:rPr sz="1800" b="1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b="1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Python</a:t>
            </a:r>
            <a:r>
              <a:rPr sz="1800" b="1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  <a:spcBef>
                <a:spcPts val="1050"/>
              </a:spcBef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1480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16418" y="3013075"/>
            <a:ext cx="4139565" cy="144653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ts val="1905"/>
              </a:lnSpc>
              <a:spcBef>
                <a:spcPts val="275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Exemple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boucle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while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en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Python</a:t>
            </a:r>
            <a:endParaRPr sz="1600">
              <a:latin typeface="Consolas"/>
              <a:cs typeface="Consolas"/>
            </a:endParaRPr>
          </a:p>
          <a:p>
            <a:pPr marL="92075">
              <a:lnSpc>
                <a:spcPts val="2145"/>
              </a:lnSpc>
            </a:pP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300990" marR="2197735" indent="-208915">
              <a:lnSpc>
                <a:spcPct val="100000"/>
              </a:lnSpc>
            </a:pPr>
            <a:r>
              <a:rPr sz="1600" spc="-20" dirty="0">
                <a:solidFill>
                  <a:srgbClr val="0000CD"/>
                </a:solidFill>
                <a:latin typeface="Consolas"/>
                <a:cs typeface="Consolas"/>
              </a:rPr>
              <a:t>while</a:t>
            </a:r>
            <a:r>
              <a:rPr sz="1600" spc="-475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5: </a:t>
            </a:r>
            <a:r>
              <a:rPr sz="1800" spc="-10" dirty="0">
                <a:latin typeface="Calibri"/>
                <a:cs typeface="Calibri"/>
              </a:rPr>
              <a:t>print(counter)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+=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77923" y="345681"/>
            <a:ext cx="9477375" cy="5074920"/>
            <a:chOff x="2177923" y="345681"/>
            <a:chExt cx="9477375" cy="507492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96167" y="345681"/>
              <a:ext cx="659079" cy="65114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77923" y="4870259"/>
              <a:ext cx="710945" cy="54997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798982" y="1466726"/>
            <a:ext cx="8519160" cy="165227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Boucles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comparaison</a:t>
            </a:r>
            <a:r>
              <a:rPr sz="1600" b="1" spc="-2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avec</a:t>
            </a:r>
            <a:r>
              <a:rPr sz="1600" b="1" spc="-3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Python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Boucle</a:t>
            </a:r>
            <a:r>
              <a:rPr sz="1800" b="1" u="sng" spc="-4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repeat</a:t>
            </a:r>
            <a:r>
              <a:rPr sz="1800" b="1" u="sng" spc="-3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en</a:t>
            </a:r>
            <a:r>
              <a:rPr sz="1800" b="1" u="sng" spc="-35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R</a:t>
            </a:r>
            <a:r>
              <a:rPr sz="1800" b="1" u="sng" spc="-5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50" dirty="0">
                <a:solidFill>
                  <a:srgbClr val="2D75B6"/>
                </a:solidFill>
                <a:uFill>
                  <a:solidFill>
                    <a:srgbClr val="2D75B6"/>
                  </a:solidFill>
                </a:u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repeat</a:t>
            </a:r>
            <a:r>
              <a:rPr sz="1800" b="1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offre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manière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d'itérer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sur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bloc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code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jusqu'à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qu'une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condition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spécifiée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soit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rencontrée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Voici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exemple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illustrant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l'affichage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des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nombres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1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5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l'aide 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"repeat"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60796" y="4164329"/>
            <a:ext cx="44958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[1] </a:t>
            </a:r>
            <a:r>
              <a:rPr sz="1800" spc="-50" dirty="0"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50734" y="3300704"/>
            <a:ext cx="4316095" cy="3139440"/>
          </a:xfrm>
          <a:prstGeom prst="rect">
            <a:avLst/>
          </a:prstGeom>
          <a:ln w="19050">
            <a:solidFill>
              <a:srgbClr val="FFD966"/>
            </a:solidFill>
          </a:ln>
        </p:spPr>
        <p:txBody>
          <a:bodyPr vert="horz" wrap="square" lIns="0" tIns="31114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4"/>
              </a:spcBef>
            </a:pP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b="1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différence</a:t>
            </a:r>
            <a:r>
              <a:rPr sz="1800" b="1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800" b="1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b="1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b="1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while</a:t>
            </a:r>
            <a:r>
              <a:rPr sz="1800" b="1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374151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92075" marR="129539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repeat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exécute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code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avant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vérifier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condition, tandis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boucle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while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vérifie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d'abord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condition.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</a:pP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Comparaison</a:t>
            </a:r>
            <a:r>
              <a:rPr sz="1800" b="1" spc="-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374151"/>
                </a:solidFill>
                <a:latin typeface="Calibri"/>
                <a:cs typeface="Calibri"/>
              </a:rPr>
              <a:t>avec</a:t>
            </a:r>
            <a:r>
              <a:rPr sz="1800" b="1" spc="-9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74151"/>
                </a:solidFill>
                <a:latin typeface="Calibri"/>
                <a:cs typeface="Calibri"/>
              </a:rPr>
              <a:t>Python</a:t>
            </a:r>
            <a:endParaRPr sz="1800">
              <a:latin typeface="Calibri"/>
              <a:cs typeface="Calibri"/>
            </a:endParaRPr>
          </a:p>
          <a:p>
            <a:pPr marL="92075" marR="117475">
              <a:lnSpc>
                <a:spcPct val="1000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Bien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flexibles,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boucle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b="1" dirty="0">
                <a:solidFill>
                  <a:srgbClr val="BE9000"/>
                </a:solidFill>
                <a:latin typeface="Calibri"/>
                <a:cs typeface="Calibri"/>
              </a:rPr>
              <a:t>repeat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n'est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pas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présente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Python.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Toutefois,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elle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correspond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à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structure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boucle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similaire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appelée</a:t>
            </a:r>
            <a:r>
              <a:rPr sz="18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b="1" dirty="0">
                <a:solidFill>
                  <a:srgbClr val="BE9000"/>
                </a:solidFill>
                <a:latin typeface="Calibri"/>
                <a:cs typeface="Calibri"/>
              </a:rPr>
              <a:t>do</a:t>
            </a:r>
            <a:r>
              <a:rPr sz="1800" b="1" spc="-15" dirty="0">
                <a:solidFill>
                  <a:srgbClr val="BE9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BE9000"/>
                </a:solidFill>
                <a:latin typeface="Calibri"/>
                <a:cs typeface="Calibri"/>
              </a:rPr>
              <a:t>while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"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l'on</a:t>
            </a:r>
            <a:r>
              <a:rPr sz="1800" spc="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trouve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d'autres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langages.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20001" y="3300641"/>
            <a:ext cx="4316095" cy="2832100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ts val="1905"/>
              </a:lnSpc>
              <a:spcBef>
                <a:spcPts val="275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Exemple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boucle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repeat</a:t>
            </a:r>
            <a:r>
              <a:rPr sz="1600" spc="-6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en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008000"/>
                </a:solidFill>
                <a:latin typeface="Consolas"/>
                <a:cs typeface="Consolas"/>
              </a:rPr>
              <a:t>R</a:t>
            </a:r>
            <a:endParaRPr sz="1600" dirty="0">
              <a:latin typeface="Consolas"/>
              <a:cs typeface="Consolas"/>
            </a:endParaRPr>
          </a:p>
          <a:p>
            <a:pPr marL="91440" marR="2806065">
              <a:lnSpc>
                <a:spcPts val="2160"/>
              </a:lnSpc>
              <a:spcBef>
                <a:spcPts val="60"/>
              </a:spcBef>
            </a:pP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 </a:t>
            </a:r>
            <a:r>
              <a:rPr sz="1600" dirty="0">
                <a:solidFill>
                  <a:srgbClr val="0000CD"/>
                </a:solidFill>
                <a:latin typeface="Consolas"/>
                <a:cs typeface="Consolas"/>
              </a:rPr>
              <a:t>repeat</a:t>
            </a:r>
            <a:r>
              <a:rPr sz="1600" spc="-100" dirty="0">
                <a:solidFill>
                  <a:srgbClr val="0000CD"/>
                </a:solidFill>
                <a:latin typeface="Consolas"/>
                <a:cs typeface="Consolas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spc="-10" dirty="0">
                <a:latin typeface="Calibri"/>
                <a:cs typeface="Calibri"/>
              </a:rPr>
              <a:t>print(counter)</a:t>
            </a:r>
            <a:endParaRPr sz="1800" dirty="0">
              <a:latin typeface="Calibri"/>
              <a:cs typeface="Calibri"/>
            </a:endParaRPr>
          </a:p>
          <a:p>
            <a:pPr marL="196215">
              <a:lnSpc>
                <a:spcPts val="2090"/>
              </a:lnSpc>
            </a:pP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 marL="196215">
              <a:lnSpc>
                <a:spcPct val="100000"/>
              </a:lnSpc>
              <a:spcBef>
                <a:spcPts val="200"/>
              </a:spcBef>
            </a:pP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#</a:t>
            </a:r>
            <a:r>
              <a:rPr sz="1600" spc="-6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Condition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pour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sortir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de</a:t>
            </a:r>
            <a:r>
              <a:rPr sz="1600" spc="-5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la</a:t>
            </a:r>
            <a:r>
              <a:rPr sz="1600" spc="-70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boucle</a:t>
            </a:r>
            <a:endParaRPr sz="1600" dirty="0">
              <a:latin typeface="Consolas"/>
              <a:cs typeface="Consolas"/>
            </a:endParaRPr>
          </a:p>
          <a:p>
            <a:pPr marL="196215">
              <a:lnSpc>
                <a:spcPct val="100000"/>
              </a:lnSpc>
              <a:spcBef>
                <a:spcPts val="40"/>
              </a:spcBef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(counter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&gt;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5)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</a:t>
            </a:r>
            <a:endParaRPr sz="1800" dirty="0">
              <a:latin typeface="Calibri"/>
              <a:cs typeface="Calibri"/>
            </a:endParaRPr>
          </a:p>
          <a:p>
            <a:pPr marL="300355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break</a:t>
            </a:r>
            <a:endParaRPr sz="1800" dirty="0">
              <a:latin typeface="Calibri"/>
              <a:cs typeface="Calibri"/>
            </a:endParaRPr>
          </a:p>
          <a:p>
            <a:pPr marL="19621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6619"/>
            <a:ext cx="266700" cy="89661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599692"/>
            <a:ext cx="6116955" cy="748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bloc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code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qui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ne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s'exécute</a:t>
            </a:r>
            <a:r>
              <a:rPr sz="1600" spc="-2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que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lorsqu'il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est</a:t>
            </a:r>
            <a:r>
              <a:rPr sz="1600" spc="-3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appelé.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982" y="2793263"/>
            <a:ext cx="4273550" cy="75692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600" b="1" spc="-10" dirty="0">
                <a:solidFill>
                  <a:srgbClr val="2D75B6"/>
                </a:solidFill>
                <a:latin typeface="Calibri"/>
                <a:cs typeface="Calibri"/>
              </a:rPr>
              <a:t>Définition</a:t>
            </a:r>
            <a:r>
              <a:rPr sz="1600" b="1" spc="-5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75B6"/>
                </a:solidFill>
                <a:latin typeface="Calibri"/>
                <a:cs typeface="Calibri"/>
              </a:rPr>
              <a:t>d'une</a:t>
            </a:r>
            <a:r>
              <a:rPr sz="1600" b="1" spc="-2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75B6"/>
                </a:solidFill>
                <a:latin typeface="Calibri"/>
                <a:cs typeface="Calibri"/>
              </a:rPr>
              <a:t>Fonction</a:t>
            </a:r>
            <a:r>
              <a:rPr sz="1600" b="1" spc="-2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2D75B6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créer</a:t>
            </a:r>
            <a:r>
              <a:rPr sz="16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fonction,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utilisez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le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mot-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clé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function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4098" y="3992333"/>
            <a:ext cx="2818130" cy="923925"/>
          </a:xfrm>
          <a:prstGeom prst="rect">
            <a:avLst/>
          </a:prstGeom>
          <a:solidFill>
            <a:srgbClr val="DEEBF7"/>
          </a:solidFill>
          <a:ln w="19050">
            <a:solidFill>
              <a:srgbClr val="FFD966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196850" marR="102870" indent="-105410">
              <a:lnSpc>
                <a:spcPct val="100000"/>
              </a:lnSpc>
              <a:spcBef>
                <a:spcPts val="245"/>
              </a:spcBef>
            </a:pPr>
            <a:r>
              <a:rPr sz="1800" dirty="0">
                <a:latin typeface="Calibri"/>
                <a:cs typeface="Calibri"/>
              </a:rPr>
              <a:t>my_function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&lt;-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000CD"/>
                </a:solidFill>
                <a:latin typeface="Consolas"/>
                <a:cs typeface="Consolas"/>
              </a:rPr>
              <a:t>function</a:t>
            </a:r>
            <a:r>
              <a:rPr sz="1800" spc="-10" dirty="0">
                <a:latin typeface="Calibri"/>
                <a:cs typeface="Calibri"/>
              </a:rPr>
              <a:t>()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{ </a:t>
            </a:r>
            <a:r>
              <a:rPr sz="1800" dirty="0">
                <a:latin typeface="Calibri"/>
                <a:cs typeface="Calibri"/>
              </a:rPr>
              <a:t>print(</a:t>
            </a:r>
            <a:r>
              <a:rPr sz="1600" dirty="0">
                <a:solidFill>
                  <a:srgbClr val="008000"/>
                </a:solidFill>
                <a:latin typeface="Consolas"/>
                <a:cs typeface="Consolas"/>
              </a:rPr>
              <a:t>"Hello</a:t>
            </a:r>
            <a:r>
              <a:rPr sz="1600" spc="-9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8000"/>
                </a:solidFill>
                <a:latin typeface="Consolas"/>
                <a:cs typeface="Consolas"/>
              </a:rPr>
              <a:t>World!"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}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9865" y="2861589"/>
            <a:ext cx="4276725" cy="83502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b="1" dirty="0">
                <a:solidFill>
                  <a:srgbClr val="2D75B6"/>
                </a:solidFill>
                <a:latin typeface="Calibri"/>
                <a:cs typeface="Calibri"/>
              </a:rPr>
              <a:t>Appel</a:t>
            </a:r>
            <a:r>
              <a:rPr sz="1600" b="1" spc="-50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75B6"/>
                </a:solidFill>
                <a:latin typeface="Calibri"/>
                <a:cs typeface="Calibri"/>
              </a:rPr>
              <a:t>d'une</a:t>
            </a:r>
            <a:r>
              <a:rPr sz="1600" b="1" spc="-3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2D75B6"/>
                </a:solidFill>
                <a:latin typeface="Calibri"/>
                <a:cs typeface="Calibri"/>
              </a:rPr>
              <a:t>Fonction</a:t>
            </a:r>
            <a:r>
              <a:rPr sz="1600" b="1" spc="-45" dirty="0">
                <a:solidFill>
                  <a:srgbClr val="2D75B6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2D75B6"/>
                </a:solidFill>
                <a:latin typeface="Calibri"/>
                <a:cs typeface="Calibri"/>
              </a:rPr>
              <a:t>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0600"/>
              </a:lnSpc>
              <a:spcBef>
                <a:spcPts val="290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appeler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6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fonction,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utilisez</a:t>
            </a:r>
            <a:r>
              <a:rPr sz="1600" spc="-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son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nom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suivi</a:t>
            </a:r>
            <a:r>
              <a:rPr sz="16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parenthèses,</a:t>
            </a:r>
            <a:r>
              <a:rPr sz="16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comme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my_function()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20153" y="4269346"/>
            <a:ext cx="2818130" cy="369570"/>
          </a:xfrm>
          <a:prstGeom prst="rect">
            <a:avLst/>
          </a:prstGeom>
          <a:solidFill>
            <a:srgbClr val="DEEBF7"/>
          </a:solidFill>
          <a:ln w="19050">
            <a:solidFill>
              <a:srgbClr val="FFD966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45"/>
              </a:spcBef>
            </a:pPr>
            <a:r>
              <a:rPr sz="1800" spc="-10" dirty="0">
                <a:latin typeface="Calibri"/>
                <a:cs typeface="Calibri"/>
              </a:rPr>
              <a:t>my_function()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98982" y="1599692"/>
            <a:ext cx="5036185" cy="4544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Gestion</a:t>
            </a:r>
            <a:r>
              <a:rPr sz="1600" b="1" spc="-6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des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paramètres</a:t>
            </a:r>
            <a:r>
              <a:rPr sz="1600" b="1" spc="-4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et</a:t>
            </a:r>
            <a:r>
              <a:rPr sz="1600" b="1" spc="-5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valeurs</a:t>
            </a:r>
            <a:r>
              <a:rPr sz="1600" b="1" spc="-3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de</a:t>
            </a:r>
            <a:r>
              <a:rPr sz="16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retour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d’une</a:t>
            </a:r>
            <a:r>
              <a:rPr sz="1600" b="1" spc="-25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007842"/>
                </a:solidFill>
                <a:latin typeface="Calibri"/>
                <a:cs typeface="Calibri"/>
              </a:rPr>
              <a:t>fonction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Paramètres</a:t>
            </a:r>
            <a:r>
              <a:rPr sz="1800" b="1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et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 Arguments:</a:t>
            </a:r>
            <a:endParaRPr sz="1800">
              <a:latin typeface="Calibri"/>
              <a:cs typeface="Calibri"/>
            </a:endParaRPr>
          </a:p>
          <a:p>
            <a:pPr marL="12700" marR="5080" algn="just">
              <a:lnSpc>
                <a:spcPct val="150000"/>
              </a:lnSpc>
              <a:spcBef>
                <a:spcPts val="45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600" spc="114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paramètre</a:t>
            </a:r>
            <a:r>
              <a:rPr sz="1600" b="1" spc="12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600" spc="12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114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variable</a:t>
            </a:r>
            <a:r>
              <a:rPr sz="1600" spc="12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dans</a:t>
            </a:r>
            <a:r>
              <a:rPr sz="1600" spc="12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11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définition</a:t>
            </a:r>
            <a:r>
              <a:rPr sz="1600" spc="12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114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la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fonction,</a:t>
            </a:r>
            <a:r>
              <a:rPr sz="16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tandis qu'un</a:t>
            </a:r>
            <a:r>
              <a:rPr sz="16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argument</a:t>
            </a:r>
            <a:r>
              <a:rPr sz="1600" b="1" spc="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6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valeur</a:t>
            </a:r>
            <a:r>
              <a:rPr sz="16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passée</a:t>
            </a:r>
            <a:r>
              <a:rPr sz="1600" spc="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lors</a:t>
            </a:r>
            <a:r>
              <a:rPr sz="1600" spc="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l'appel</a:t>
            </a:r>
            <a:r>
              <a:rPr sz="16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fonction.</a:t>
            </a:r>
            <a:endParaRPr sz="16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40"/>
              </a:spcBef>
            </a:pP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Valeur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par</a:t>
            </a:r>
            <a:r>
              <a:rPr sz="1800" b="1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Défaut</a:t>
            </a:r>
            <a:r>
              <a:rPr sz="1800" b="1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des</a:t>
            </a:r>
            <a:r>
              <a:rPr sz="1800" b="1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Paramètres</a:t>
            </a:r>
            <a:r>
              <a:rPr sz="1800" b="1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6350" algn="just">
              <a:lnSpc>
                <a:spcPct val="150000"/>
              </a:lnSpc>
              <a:spcBef>
                <a:spcPts val="45"/>
              </a:spcBef>
            </a:pP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Vous</a:t>
            </a:r>
            <a:r>
              <a:rPr sz="1600" spc="18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pouvez</a:t>
            </a:r>
            <a:r>
              <a:rPr sz="1600" spc="19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définir</a:t>
            </a:r>
            <a:r>
              <a:rPr sz="1600" spc="19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une</a:t>
            </a:r>
            <a:r>
              <a:rPr sz="1600" spc="19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valeur</a:t>
            </a:r>
            <a:r>
              <a:rPr sz="1600" b="1" spc="19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600" b="1" spc="19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b="1" dirty="0">
                <a:solidFill>
                  <a:srgbClr val="374151"/>
                </a:solidFill>
                <a:latin typeface="Calibri"/>
                <a:cs typeface="Calibri"/>
              </a:rPr>
              <a:t>défaut</a:t>
            </a:r>
            <a:r>
              <a:rPr sz="1600" b="1" spc="190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pour</a:t>
            </a:r>
            <a:r>
              <a:rPr sz="1600" spc="195" dirty="0">
                <a:solidFill>
                  <a:srgbClr val="374151"/>
                </a:solidFill>
                <a:latin typeface="Calibri"/>
                <a:cs typeface="Calibri"/>
              </a:rPr>
              <a:t>  </a:t>
            </a:r>
            <a:r>
              <a:rPr sz="1600" spc="-25" dirty="0">
                <a:solidFill>
                  <a:srgbClr val="374151"/>
                </a:solidFill>
                <a:latin typeface="Calibri"/>
                <a:cs typeface="Calibri"/>
              </a:rPr>
              <a:t>les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paramètres.</a:t>
            </a:r>
            <a:r>
              <a:rPr sz="1600" spc="18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Si</a:t>
            </a:r>
            <a:r>
              <a:rPr sz="16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1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fonction</a:t>
            </a:r>
            <a:r>
              <a:rPr sz="16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est</a:t>
            </a:r>
            <a:r>
              <a:rPr sz="16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appelée</a:t>
            </a:r>
            <a:r>
              <a:rPr sz="1600" spc="17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sans</a:t>
            </a:r>
            <a:r>
              <a:rPr sz="16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argument,</a:t>
            </a:r>
            <a:r>
              <a:rPr sz="1600" spc="1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374151"/>
                </a:solidFill>
                <a:latin typeface="Calibri"/>
                <a:cs typeface="Calibri"/>
              </a:rPr>
              <a:t>elle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utilise</a:t>
            </a:r>
            <a:r>
              <a:rPr sz="16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6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valeur</a:t>
            </a:r>
            <a:r>
              <a:rPr sz="16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74151"/>
                </a:solidFill>
                <a:latin typeface="Calibri"/>
                <a:cs typeface="Calibri"/>
              </a:rPr>
              <a:t>par</a:t>
            </a:r>
            <a:r>
              <a:rPr sz="16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74151"/>
                </a:solidFill>
                <a:latin typeface="Calibri"/>
                <a:cs typeface="Calibri"/>
              </a:rPr>
              <a:t>défaut.</a:t>
            </a:r>
            <a:endParaRPr sz="16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035"/>
              </a:spcBef>
            </a:pP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Retourner</a:t>
            </a:r>
            <a:r>
              <a:rPr sz="1800" b="1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4471C4"/>
                </a:solidFill>
                <a:latin typeface="Calibri"/>
                <a:cs typeface="Calibri"/>
              </a:rPr>
              <a:t>des</a:t>
            </a:r>
            <a:r>
              <a:rPr sz="1800" b="1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4471C4"/>
                </a:solidFill>
                <a:latin typeface="Calibri"/>
                <a:cs typeface="Calibri"/>
              </a:rPr>
              <a:t>Valeurs</a:t>
            </a:r>
            <a:r>
              <a:rPr sz="1800" b="1" spc="-7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4471C4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6350" algn="just">
              <a:lnSpc>
                <a:spcPct val="150000"/>
              </a:lnSpc>
              <a:spcBef>
                <a:spcPts val="45"/>
              </a:spcBef>
            </a:pP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Utilisez</a:t>
            </a:r>
            <a:r>
              <a:rPr sz="16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la</a:t>
            </a:r>
            <a:r>
              <a:rPr sz="16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fonction</a:t>
            </a:r>
            <a:r>
              <a:rPr sz="1600" b="1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555555"/>
                </a:solidFill>
                <a:latin typeface="Calibri"/>
                <a:cs typeface="Calibri"/>
              </a:rPr>
              <a:t>return()</a:t>
            </a:r>
            <a:r>
              <a:rPr sz="1600" b="1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pour</a:t>
            </a:r>
            <a:r>
              <a:rPr sz="16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permettre</a:t>
            </a:r>
            <a:r>
              <a:rPr sz="1600" spc="1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à</a:t>
            </a:r>
            <a:r>
              <a:rPr sz="1600" spc="1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une</a:t>
            </a:r>
            <a:r>
              <a:rPr sz="1600" spc="1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fonction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renvoyer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 un</a:t>
            </a:r>
            <a:r>
              <a:rPr sz="1600" spc="-4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résultat.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00800" y="2086140"/>
            <a:ext cx="5193030" cy="4032250"/>
          </a:xfrm>
          <a:prstGeom prst="rect">
            <a:avLst/>
          </a:prstGeom>
          <a:solidFill>
            <a:srgbClr val="1F4E79"/>
          </a:solidFill>
        </p:spPr>
        <p:txBody>
          <a:bodyPr vert="horz" wrap="square" lIns="0" tIns="34925" rIns="0" bIns="0" rtlCol="0">
            <a:spAutoFit/>
          </a:bodyPr>
          <a:lstStyle/>
          <a:p>
            <a:pPr marL="92075" marR="533400">
              <a:lnSpc>
                <a:spcPct val="100000"/>
              </a:lnSpc>
              <a:spcBef>
                <a:spcPts val="275"/>
              </a:spcBef>
            </a:pP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Définition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d'une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fonction</a:t>
            </a:r>
            <a:r>
              <a:rPr sz="1600" i="1" spc="-9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avec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spc="-20" dirty="0">
                <a:solidFill>
                  <a:srgbClr val="0087FF"/>
                </a:solidFill>
                <a:latin typeface="Consolas"/>
                <a:cs typeface="Consolas"/>
              </a:rPr>
              <a:t>deux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paramètres</a:t>
            </a:r>
            <a:r>
              <a:rPr sz="1600" i="1" spc="-7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et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une</a:t>
            </a:r>
            <a:r>
              <a:rPr sz="1600" i="1" spc="-6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valeur</a:t>
            </a:r>
            <a:r>
              <a:rPr sz="1600" i="1" spc="-7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par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spc="-10" dirty="0">
                <a:solidFill>
                  <a:srgbClr val="0087FF"/>
                </a:solidFill>
                <a:latin typeface="Consolas"/>
                <a:cs typeface="Consolas"/>
              </a:rPr>
              <a:t>défaut </a:t>
            </a:r>
            <a:r>
              <a:rPr sz="1600" dirty="0">
                <a:solidFill>
                  <a:srgbClr val="FFFFFF"/>
                </a:solidFill>
                <a:latin typeface="Consolas"/>
                <a:cs typeface="Consolas"/>
              </a:rPr>
              <a:t>concatener_noms</a:t>
            </a:r>
            <a:r>
              <a:rPr sz="1600" spc="-9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600" spc="-9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FFC500"/>
                </a:solidFill>
                <a:latin typeface="Consolas"/>
                <a:cs typeface="Consolas"/>
              </a:rPr>
              <a:t>function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FA93FF"/>
                </a:solidFill>
                <a:latin typeface="Consolas"/>
                <a:cs typeface="Consolas"/>
              </a:rPr>
              <a:t>prenom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,</a:t>
            </a:r>
            <a:r>
              <a:rPr sz="1600" spc="-9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E0EEFF"/>
                </a:solidFill>
                <a:latin typeface="Consolas"/>
                <a:cs typeface="Consolas"/>
              </a:rPr>
              <a:t>nom</a:t>
            </a:r>
            <a:r>
              <a:rPr sz="1600" spc="-9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FF9D00"/>
                </a:solidFill>
                <a:latin typeface="Consolas"/>
                <a:cs typeface="Consolas"/>
              </a:rPr>
              <a:t>= </a:t>
            </a:r>
            <a:r>
              <a:rPr sz="16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dirty="0">
                <a:solidFill>
                  <a:srgbClr val="A4FF90"/>
                </a:solidFill>
                <a:latin typeface="Consolas"/>
                <a:cs typeface="Consolas"/>
              </a:rPr>
              <a:t>Doe</a:t>
            </a:r>
            <a:r>
              <a:rPr sz="160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dirty="0">
                <a:solidFill>
                  <a:srgbClr val="E0EEFF"/>
                </a:solidFill>
                <a:latin typeface="Consolas"/>
                <a:cs typeface="Consolas"/>
              </a:rPr>
              <a:t>)</a:t>
            </a:r>
            <a:r>
              <a:rPr sz="1600" spc="-9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600" spc="-50" dirty="0">
                <a:solidFill>
                  <a:srgbClr val="E0EEFF"/>
                </a:solidFill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314325" marR="1201420">
              <a:lnSpc>
                <a:spcPct val="100000"/>
              </a:lnSpc>
            </a:pP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Concaténation</a:t>
            </a:r>
            <a:r>
              <a:rPr sz="1600" i="1" spc="-7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des</a:t>
            </a:r>
            <a:r>
              <a:rPr sz="1600" i="1" spc="-8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prénom</a:t>
            </a:r>
            <a:r>
              <a:rPr sz="1600" i="1" spc="-8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et</a:t>
            </a:r>
            <a:r>
              <a:rPr sz="1600" i="1" spc="-7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spc="-25" dirty="0">
                <a:solidFill>
                  <a:srgbClr val="0087FF"/>
                </a:solidFill>
                <a:latin typeface="Consolas"/>
                <a:cs typeface="Consolas"/>
              </a:rPr>
              <a:t>nom </a:t>
            </a:r>
            <a:r>
              <a:rPr sz="1600" dirty="0">
                <a:solidFill>
                  <a:srgbClr val="FFFFFF"/>
                </a:solidFill>
                <a:latin typeface="Consolas"/>
                <a:cs typeface="Consolas"/>
              </a:rPr>
              <a:t>nom_complet</a:t>
            </a:r>
            <a:r>
              <a:rPr sz="1600" spc="-1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600" spc="-12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9EFFFF"/>
                </a:solidFill>
                <a:latin typeface="Consolas"/>
                <a:cs typeface="Consolas"/>
              </a:rPr>
              <a:t>paste</a:t>
            </a:r>
            <a:r>
              <a:rPr sz="160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dirty="0">
                <a:solidFill>
                  <a:srgbClr val="FA93FF"/>
                </a:solidFill>
                <a:latin typeface="Consolas"/>
                <a:cs typeface="Consolas"/>
              </a:rPr>
              <a:t>prenom</a:t>
            </a:r>
            <a:r>
              <a:rPr sz="1600" dirty="0">
                <a:solidFill>
                  <a:srgbClr val="E0EEFF"/>
                </a:solidFill>
                <a:latin typeface="Consolas"/>
                <a:cs typeface="Consolas"/>
              </a:rPr>
              <a:t>,</a:t>
            </a:r>
            <a:r>
              <a:rPr sz="1600" spc="-125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600" spc="-20" dirty="0">
                <a:solidFill>
                  <a:srgbClr val="FA93FF"/>
                </a:solidFill>
                <a:latin typeface="Consolas"/>
                <a:cs typeface="Consolas"/>
              </a:rPr>
              <a:t>nom</a:t>
            </a:r>
            <a:r>
              <a:rPr sz="1600" spc="-20" dirty="0">
                <a:solidFill>
                  <a:srgbClr val="E0EEFF"/>
                </a:solidFill>
                <a:latin typeface="Consolas"/>
                <a:cs typeface="Consolas"/>
              </a:rPr>
              <a:t>)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6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Retourne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le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nom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spc="-10" dirty="0">
                <a:solidFill>
                  <a:srgbClr val="0087FF"/>
                </a:solidFill>
                <a:latin typeface="Consolas"/>
                <a:cs typeface="Consolas"/>
              </a:rPr>
              <a:t>complet </a:t>
            </a:r>
            <a:r>
              <a:rPr sz="1600" spc="-10" dirty="0">
                <a:solidFill>
                  <a:srgbClr val="FF9D00"/>
                </a:solidFill>
                <a:latin typeface="Consolas"/>
                <a:cs typeface="Consolas"/>
              </a:rPr>
              <a:t>return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FA93FF"/>
                </a:solidFill>
                <a:latin typeface="Consolas"/>
                <a:cs typeface="Consolas"/>
              </a:rPr>
              <a:t>nom_complet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" dirty="0">
                <a:solidFill>
                  <a:srgbClr val="E0EEFF"/>
                </a:solidFill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92075" marR="201295">
              <a:lnSpc>
                <a:spcPct val="100000"/>
              </a:lnSpc>
            </a:pP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Appel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6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fonction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avec</a:t>
            </a:r>
            <a:r>
              <a:rPr sz="1600" i="1" spc="-6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un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seul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spc="-10" dirty="0">
                <a:solidFill>
                  <a:srgbClr val="0087FF"/>
                </a:solidFill>
                <a:latin typeface="Consolas"/>
                <a:cs typeface="Consolas"/>
              </a:rPr>
              <a:t>argument </a:t>
            </a:r>
            <a:r>
              <a:rPr sz="1600" dirty="0">
                <a:solidFill>
                  <a:srgbClr val="FFFFFF"/>
                </a:solidFill>
                <a:latin typeface="Consolas"/>
                <a:cs typeface="Consolas"/>
              </a:rPr>
              <a:t>resultat1</a:t>
            </a:r>
            <a:r>
              <a:rPr sz="1600" spc="-8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600" spc="-8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9EFFFF"/>
                </a:solidFill>
                <a:latin typeface="Consolas"/>
                <a:cs typeface="Consolas"/>
              </a:rPr>
              <a:t>concatener_noms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spc="-10" dirty="0">
                <a:solidFill>
                  <a:srgbClr val="A4FF90"/>
                </a:solidFill>
                <a:latin typeface="Consolas"/>
                <a:cs typeface="Consolas"/>
              </a:rPr>
              <a:t>John</a:t>
            </a:r>
            <a:r>
              <a:rPr sz="16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) </a:t>
            </a:r>
            <a:r>
              <a:rPr sz="16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FA93FF"/>
                </a:solidFill>
                <a:latin typeface="Consolas"/>
                <a:cs typeface="Consolas"/>
              </a:rPr>
              <a:t>resultat1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92075" marR="313055">
              <a:lnSpc>
                <a:spcPct val="100000"/>
              </a:lnSpc>
              <a:spcBef>
                <a:spcPts val="5"/>
              </a:spcBef>
            </a:pP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#</a:t>
            </a:r>
            <a:r>
              <a:rPr sz="1600" i="1" spc="-5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Appel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de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la</a:t>
            </a:r>
            <a:r>
              <a:rPr sz="1600" i="1" spc="-7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fonction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avec</a:t>
            </a:r>
            <a:r>
              <a:rPr sz="1600" i="1" spc="-65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dirty="0">
                <a:solidFill>
                  <a:srgbClr val="0087FF"/>
                </a:solidFill>
                <a:latin typeface="Consolas"/>
                <a:cs typeface="Consolas"/>
              </a:rPr>
              <a:t>deux</a:t>
            </a:r>
            <a:r>
              <a:rPr sz="1600" i="1" spc="-50" dirty="0">
                <a:solidFill>
                  <a:srgbClr val="0087FF"/>
                </a:solidFill>
                <a:latin typeface="Consolas"/>
                <a:cs typeface="Consolas"/>
              </a:rPr>
              <a:t> </a:t>
            </a:r>
            <a:r>
              <a:rPr sz="1600" i="1" spc="-10" dirty="0">
                <a:solidFill>
                  <a:srgbClr val="0087FF"/>
                </a:solidFill>
                <a:latin typeface="Consolas"/>
                <a:cs typeface="Consolas"/>
              </a:rPr>
              <a:t>arguments </a:t>
            </a:r>
            <a:r>
              <a:rPr sz="1600" dirty="0">
                <a:solidFill>
                  <a:srgbClr val="FFFFFF"/>
                </a:solidFill>
                <a:latin typeface="Consolas"/>
                <a:cs typeface="Consolas"/>
              </a:rPr>
              <a:t>resultat2</a:t>
            </a:r>
            <a:r>
              <a:rPr sz="1600" spc="-8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FF9D00"/>
                </a:solidFill>
                <a:latin typeface="Consolas"/>
                <a:cs typeface="Consolas"/>
              </a:rPr>
              <a:t>&lt;-</a:t>
            </a:r>
            <a:r>
              <a:rPr sz="1600" spc="-80" dirty="0">
                <a:solidFill>
                  <a:srgbClr val="FF9D0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9EFFFF"/>
                </a:solidFill>
                <a:latin typeface="Consolas"/>
                <a:cs typeface="Consolas"/>
              </a:rPr>
              <a:t>concatener_noms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spc="-10" dirty="0">
                <a:solidFill>
                  <a:srgbClr val="A4FF90"/>
                </a:solidFill>
                <a:latin typeface="Consolas"/>
                <a:cs typeface="Consolas"/>
              </a:rPr>
              <a:t>Mohamed</a:t>
            </a:r>
            <a:r>
              <a:rPr sz="16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,</a:t>
            </a:r>
            <a:r>
              <a:rPr sz="1600" spc="-80" dirty="0">
                <a:solidFill>
                  <a:srgbClr val="E0EEFF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spc="-25" dirty="0">
                <a:solidFill>
                  <a:srgbClr val="A4FF90"/>
                </a:solidFill>
                <a:latin typeface="Consolas"/>
                <a:cs typeface="Consolas"/>
              </a:rPr>
              <a:t>EL </a:t>
            </a:r>
            <a:r>
              <a:rPr sz="1600" spc="-10" dirty="0">
                <a:solidFill>
                  <a:srgbClr val="A4FF90"/>
                </a:solidFill>
                <a:latin typeface="Consolas"/>
                <a:cs typeface="Consolas"/>
              </a:rPr>
              <a:t>BAKKALI</a:t>
            </a:r>
            <a:r>
              <a:rPr sz="1600" spc="-10" dirty="0">
                <a:solidFill>
                  <a:srgbClr val="92FB79"/>
                </a:solidFill>
                <a:latin typeface="Consolas"/>
                <a:cs typeface="Consolas"/>
              </a:rPr>
              <a:t>"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10" dirty="0">
                <a:solidFill>
                  <a:srgbClr val="FF9D00"/>
                </a:solidFill>
                <a:latin typeface="Consolas"/>
                <a:cs typeface="Consolas"/>
              </a:rPr>
              <a:t>print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(</a:t>
            </a:r>
            <a:r>
              <a:rPr sz="1600" spc="-10" dirty="0">
                <a:solidFill>
                  <a:srgbClr val="FA93FF"/>
                </a:solidFill>
                <a:latin typeface="Consolas"/>
                <a:cs typeface="Consolas"/>
              </a:rPr>
              <a:t>resultat2</a:t>
            </a:r>
            <a:r>
              <a:rPr sz="1600" spc="-10" dirty="0">
                <a:solidFill>
                  <a:srgbClr val="E0EEFF"/>
                </a:solidFill>
                <a:latin typeface="Consolas"/>
                <a:cs typeface="Consolas"/>
              </a:rPr>
              <a:t>)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11"/>
            <a:ext cx="12192000" cy="6849745"/>
            <a:chOff x="0" y="2811"/>
            <a:chExt cx="12192000" cy="68497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" y="2811"/>
              <a:ext cx="12191998" cy="68496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11118469" y="0"/>
                  </a:moveTo>
                  <a:lnTo>
                    <a:pt x="0" y="0"/>
                  </a:lnTo>
                  <a:lnTo>
                    <a:pt x="0" y="5152390"/>
                  </a:lnTo>
                  <a:lnTo>
                    <a:pt x="11118469" y="5152390"/>
                  </a:lnTo>
                  <a:lnTo>
                    <a:pt x="111184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6790" y="1464030"/>
              <a:ext cx="11118850" cy="5152390"/>
            </a:xfrm>
            <a:custGeom>
              <a:avLst/>
              <a:gdLst/>
              <a:ahLst/>
              <a:cxnLst/>
              <a:rect l="l" t="t" r="r" b="b"/>
              <a:pathLst>
                <a:path w="11118850" h="5152390">
                  <a:moveTo>
                    <a:pt x="0" y="5152390"/>
                  </a:moveTo>
                  <a:lnTo>
                    <a:pt x="11118469" y="5152390"/>
                  </a:lnTo>
                  <a:lnTo>
                    <a:pt x="11118469" y="0"/>
                  </a:lnTo>
                  <a:lnTo>
                    <a:pt x="0" y="0"/>
                  </a:lnTo>
                  <a:lnTo>
                    <a:pt x="0" y="5152390"/>
                  </a:lnTo>
                  <a:close/>
                </a:path>
              </a:pathLst>
            </a:custGeom>
            <a:ln w="9525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5060149"/>
              <a:ext cx="537210" cy="1346200"/>
            </a:xfrm>
            <a:custGeom>
              <a:avLst/>
              <a:gdLst/>
              <a:ahLst/>
              <a:cxnLst/>
              <a:rect l="l" t="t" r="r" b="b"/>
              <a:pathLst>
                <a:path w="537210" h="1346200">
                  <a:moveTo>
                    <a:pt x="536790" y="0"/>
                  </a:moveTo>
                  <a:lnTo>
                    <a:pt x="0" y="0"/>
                  </a:lnTo>
                  <a:lnTo>
                    <a:pt x="0" y="1077226"/>
                  </a:lnTo>
                  <a:lnTo>
                    <a:pt x="0" y="1080008"/>
                  </a:lnTo>
                  <a:lnTo>
                    <a:pt x="241" y="1080008"/>
                  </a:lnTo>
                  <a:lnTo>
                    <a:pt x="4318" y="1125474"/>
                  </a:lnTo>
                  <a:lnTo>
                    <a:pt x="16789" y="1170889"/>
                  </a:lnTo>
                  <a:lnTo>
                    <a:pt x="36639" y="1212697"/>
                  </a:lnTo>
                  <a:lnTo>
                    <a:pt x="63119" y="1250149"/>
                  </a:lnTo>
                  <a:lnTo>
                    <a:pt x="95465" y="1282496"/>
                  </a:lnTo>
                  <a:lnTo>
                    <a:pt x="132918" y="1308976"/>
                  </a:lnTo>
                  <a:lnTo>
                    <a:pt x="174739" y="1328826"/>
                  </a:lnTo>
                  <a:lnTo>
                    <a:pt x="220141" y="1341297"/>
                  </a:lnTo>
                  <a:lnTo>
                    <a:pt x="268389" y="1345615"/>
                  </a:lnTo>
                  <a:lnTo>
                    <a:pt x="536790" y="1345615"/>
                  </a:lnTo>
                  <a:lnTo>
                    <a:pt x="536790" y="1080008"/>
                  </a:lnTo>
                  <a:lnTo>
                    <a:pt x="536790" y="1077226"/>
                  </a:lnTo>
                  <a:lnTo>
                    <a:pt x="536790" y="0"/>
                  </a:lnTo>
                  <a:close/>
                </a:path>
              </a:pathLst>
            </a:custGeom>
            <a:solidFill>
              <a:srgbClr val="0078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376" y="5167286"/>
            <a:ext cx="266700" cy="8959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b="1" spc="-25" dirty="0">
                <a:solidFill>
                  <a:srgbClr val="FFFFFF"/>
                </a:solidFill>
                <a:latin typeface="Calibri"/>
                <a:cs typeface="Calibri"/>
              </a:rPr>
              <a:t>PARTIE</a:t>
            </a:r>
            <a:r>
              <a:rPr sz="19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6168" y="345681"/>
            <a:ext cx="659079" cy="6511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98982" y="3786276"/>
            <a:ext cx="26289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7375">
              <a:lnSpc>
                <a:spcPct val="150000"/>
              </a:lnSpc>
              <a:spcBef>
                <a:spcPts val="100"/>
              </a:spcBef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install.packages("skimr") library(skimr)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skim(data)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600" spc="-160" dirty="0">
                <a:solidFill>
                  <a:srgbClr val="555555"/>
                </a:solidFill>
                <a:latin typeface="Wingdings"/>
                <a:cs typeface="Wingdings"/>
              </a:rPr>
              <a:t></a:t>
            </a:r>
            <a:r>
              <a:rPr sz="1600" spc="-45" dirty="0">
                <a:solidFill>
                  <a:srgbClr val="555555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Similar</a:t>
            </a:r>
            <a:r>
              <a:rPr sz="1600" spc="-8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to</a:t>
            </a:r>
            <a:r>
              <a:rPr sz="1600" spc="-3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describe</a:t>
            </a:r>
            <a:r>
              <a:rPr sz="1600" spc="-2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55555"/>
                </a:solidFill>
                <a:latin typeface="Calibri"/>
                <a:cs typeface="Calibri"/>
              </a:rPr>
              <a:t>in</a:t>
            </a:r>
            <a:r>
              <a:rPr sz="1600" spc="-4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Python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dirty="0"/>
              <a:t>Copyright</a:t>
            </a:r>
            <a:r>
              <a:rPr spc="-2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dirty="0"/>
              <a:t>Tout</a:t>
            </a:r>
            <a:r>
              <a:rPr spc="-30" dirty="0"/>
              <a:t> </a:t>
            </a:r>
            <a:r>
              <a:rPr dirty="0"/>
              <a:t>droit</a:t>
            </a:r>
            <a:r>
              <a:rPr spc="-35" dirty="0"/>
              <a:t> </a:t>
            </a:r>
            <a:r>
              <a:rPr dirty="0"/>
              <a:t>réservé</a:t>
            </a:r>
            <a:r>
              <a:rPr spc="5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20" dirty="0"/>
              <a:t>OFPPT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7842"/>
                </a:solidFill>
              </a:rPr>
              <a:t>04</a:t>
            </a:r>
            <a:r>
              <a:rPr spc="-5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–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VULGARISER</a:t>
            </a:r>
            <a:r>
              <a:rPr spc="-4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LE</a:t>
            </a:r>
            <a:r>
              <a:rPr spc="-20" dirty="0">
                <a:solidFill>
                  <a:srgbClr val="007842"/>
                </a:solidFill>
              </a:rPr>
              <a:t> </a:t>
            </a:r>
            <a:r>
              <a:rPr dirty="0">
                <a:solidFill>
                  <a:srgbClr val="007842"/>
                </a:solidFill>
              </a:rPr>
              <a:t>LANGAGE</a:t>
            </a:r>
            <a:r>
              <a:rPr spc="-25" dirty="0">
                <a:solidFill>
                  <a:srgbClr val="007842"/>
                </a:solidFill>
              </a:rPr>
              <a:t> </a:t>
            </a:r>
            <a:r>
              <a:rPr spc="-50" dirty="0">
                <a:solidFill>
                  <a:srgbClr val="007842"/>
                </a:solidFill>
              </a:rPr>
              <a:t>R</a:t>
            </a: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600" spc="-20" dirty="0">
                <a:solidFill>
                  <a:srgbClr val="007842"/>
                </a:solidFill>
              </a:rPr>
              <a:t>Syntaxe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de</a:t>
            </a:r>
            <a:r>
              <a:rPr sz="1600" spc="-30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base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et</a:t>
            </a:r>
            <a:r>
              <a:rPr sz="1600" spc="-3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principaux</a:t>
            </a:r>
            <a:r>
              <a:rPr sz="1600" spc="-15" dirty="0">
                <a:solidFill>
                  <a:srgbClr val="007842"/>
                </a:solidFill>
              </a:rPr>
              <a:t> </a:t>
            </a:r>
            <a:r>
              <a:rPr sz="1600" spc="-10" dirty="0">
                <a:solidFill>
                  <a:srgbClr val="007842"/>
                </a:solidFill>
              </a:rPr>
              <a:t>opérateurs</a:t>
            </a:r>
            <a:r>
              <a:rPr sz="1600" spc="5" dirty="0">
                <a:solidFill>
                  <a:srgbClr val="007842"/>
                </a:solidFill>
              </a:rPr>
              <a:t> </a:t>
            </a:r>
            <a:r>
              <a:rPr sz="1600" dirty="0">
                <a:solidFill>
                  <a:srgbClr val="007842"/>
                </a:solidFill>
              </a:rPr>
              <a:t>en</a:t>
            </a:r>
            <a:r>
              <a:rPr sz="1600" spc="-40" dirty="0">
                <a:solidFill>
                  <a:srgbClr val="007842"/>
                </a:solidFill>
              </a:rPr>
              <a:t> </a:t>
            </a:r>
            <a:r>
              <a:rPr sz="1600" spc="-50" dirty="0">
                <a:solidFill>
                  <a:srgbClr val="007842"/>
                </a:solidFill>
              </a:rPr>
              <a:t>R</a:t>
            </a:r>
            <a:endParaRPr sz="1600"/>
          </a:p>
        </p:txBody>
      </p:sp>
      <p:sp>
        <p:nvSpPr>
          <p:cNvPr id="11" name="object 11"/>
          <p:cNvSpPr txBox="1"/>
          <p:nvPr/>
        </p:nvSpPr>
        <p:spPr>
          <a:xfrm>
            <a:off x="798982" y="1599692"/>
            <a:ext cx="2047875" cy="1115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Fonctions</a:t>
            </a:r>
            <a:r>
              <a:rPr sz="1600" b="1" spc="-4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7842"/>
                </a:solidFill>
                <a:latin typeface="Calibri"/>
                <a:cs typeface="Calibri"/>
              </a:rPr>
              <a:t>en</a:t>
            </a:r>
            <a:r>
              <a:rPr sz="1600" b="1" spc="-60" dirty="0">
                <a:solidFill>
                  <a:srgbClr val="007842"/>
                </a:solidFill>
                <a:latin typeface="Calibri"/>
                <a:cs typeface="Calibri"/>
              </a:rPr>
              <a:t> </a:t>
            </a:r>
            <a:r>
              <a:rPr sz="1600" b="1" spc="-50" dirty="0">
                <a:solidFill>
                  <a:srgbClr val="007842"/>
                </a:solidFill>
                <a:latin typeface="Calibri"/>
                <a:cs typeface="Calibri"/>
              </a:rPr>
              <a:t>R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Install</a:t>
            </a:r>
            <a:r>
              <a:rPr sz="1600" spc="-50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packages</a:t>
            </a:r>
            <a:r>
              <a:rPr sz="1600" spc="-15" dirty="0">
                <a:solidFill>
                  <a:srgbClr val="555555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555555"/>
                </a:solidFill>
                <a:latin typeface="Calibri"/>
                <a:cs typeface="Calibri"/>
              </a:rPr>
              <a:t>datasets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</TotalTime>
  <Words>1989</Words>
  <Application>Microsoft Office PowerPoint</Application>
  <PresentationFormat>Grand écran</PresentationFormat>
  <Paragraphs>338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Courier New</vt:lpstr>
      <vt:lpstr>Times New Roman</vt:lpstr>
      <vt:lpstr>Wingdings</vt:lpstr>
      <vt:lpstr>Office Theme</vt:lpstr>
      <vt:lpstr>CHAPITRE 4</vt:lpstr>
      <vt:lpstr>CHAPITRE 4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  <vt:lpstr>04 – VULGARISER LE LANGAGE R Syntaxe de base et principaux opérateurs en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</dc:creator>
  <cp:lastModifiedBy>Pr.Elarbi</cp:lastModifiedBy>
  <cp:revision>5</cp:revision>
  <dcterms:created xsi:type="dcterms:W3CDTF">2024-09-30T23:08:11Z</dcterms:created>
  <dcterms:modified xsi:type="dcterms:W3CDTF">2024-10-01T13:46:21Z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2024-09-30T00:00:00Z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2024-09-30T00:00:00Z</vt:filetime>
  </property>
  <property fmtid="{D5CDD505-2E9C-101B-9397-08002B2CF9AE}" pid="5" name="Producer">
    <vt:lpwstr>Microsoft® PowerPoint® for Microsoft 365</vt:lpwstr>
  </property>
</Properties>
</file>